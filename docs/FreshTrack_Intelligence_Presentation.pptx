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faculty members Dr. Shahade, Dr. Kolhar, and Dr. Dutta. Today, I am presenting FreshTrack Intelligence, an AI-driven decision-support platform designed to solve a critical commercial and environmental dilemma in retail grocery: perishable food waste mitigation through predictive demand forecasting and margin-safe dynamic markdowns. The project benchmarks 9 perishable food categories from Corporacion Favorita's Store 1 in Quito, Ecuador, coupling a 10.69% WAPE gradient-boosted demand model with an automated cost-floor pricing safeguard.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Supermarket managers managing perishable items like fresh produce, meats, dairy, and bakery face an operational trade-off every day. If they under-stock, they suffer stockouts and lost revenue. If they over-stock, unsold items expire and must be discarded. Traditional supermarket discounting is manual, subjective, and reactive—items are discounted hours before expiration. FreshTrack Intelligence replaces this subjective guesswork with an algorithmic platform.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built on four core pillars: first, category-level demand forecasting; second, a recursive multi-step surplus risk engine; third, a transparent dynamic markdown rule engine; and fourth, dual user interfaces. To maintain academic boundaries: our historical demand forecasting uses real supermarket sales data from Corporacion Favorita. However, because public retail datasets do not track physical batch expiration tags or wholesale procurement costs, our platform treats starting stock, shelf-life days, and costs as configurable simulation inputs for operational scenario testing.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dataset comes from the Kaggle Store Sales benchmark, capturing transaction history from Corporacion Favorita in Ecuador. We isolate Store 1 in Quito across the 9 official perishable grocery categories. In data cleaning, we addressed an operational nuance: Ecuadorian supermarkets close on Christmas Day, creating a missing date in raw POS records. Our preprocessing pipeline regularizes the calendar grid by explicitly imputing zero sales and zero promotions for Dec 25, preserving an unbroken daily time-series index without which autoregressive lags would suffer temporal displacement.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core priority in this project was methodological rigor and zero data leakage. First, all lag features are shifted by at least 1 day. For our 7-day and 14-day rolling averages, we explicitly apply .shift(1) before computing the rolling window, ensuring that day t's sales target is never included in day t's feature vector. Second, we reject randomized k-fold splits, which leak future data into the past. We enforce an empirical chronological holdout: training strictly on 4,941 samples up to July 16, 2017, and validating strictly out-of-sample on the final 30 calendar days across 270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end-to-end technical architecture. The preprocessing and machine learning pipeline serializes the champion model into a joblib pipeline bundle. This bundle is loaded by an asynchronous FastAPI backend running on port 8000. The backend exposes 8 REST endpoints with Pydantic request validation and CORS protection. On the client side, we deploy two interfaces: a modern Next.js 16 web application styled according to our approved Stitch design system with 0-pixel border radius and editorial brutalist aesthetics, and our original Streamlit decision dashboard. Both interfaces are verified through 101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our comparative model evaluation tournament on the 30-day out-of-sample validation set. The naive Lag-7 baseline achieved a 14.56% WAPE. Ridge regression reduced this to 13.08%. Random Forest brought error down to 11.29%. Our champion architecture, HistGradientBoostingRegressor, achieved the best performance: 10.69% WAPE, 50.91 units MAE, and 103.88 RMSE, representing a 26.6% relative error reduction over naive store ordering. Regarding R²: our global pooled R² across all 270 samples is 0.9805. Through ANOVA variance decomposition, we established that 85.6% of pooled variance represents static baseline level differences between product categories. When evaluated within individual families, the volume-weighted R² is 0.7916, explaining 88% of variance in Produce and over 70% in Bakery, Meats, and Dairy.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decision-support mathematical formulation. First, our recursive forecaster generates daily predictions across the product's remaining shelf life without reading future ground truth. We sum these predictions to find cumulative expected demand. If starting stock exceeds demand, we quantify expected surplus units and classify the surplus ratio into four operational risk tiers. Crucially, to prevent selling below cost, we enforce an automated Minimum-Margin Floor Price: Unit Cost times one plus the minimum margin. If a 50% liquidation discount would cause the selling price to breach the cost floor, the engine automatically steps down the discount to 30%, 15%, or 0%, guaranteeing that retail economics are protected.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illustrates our user interfaces. In the Next.js application, store managers access the Overview screen to see total simulated surplus units and critical category alerts across all 9 families. On the Demand Forecast workspace, planners can adjust the forecast horizon from 1 to 14 days and inspect recursive projections. On the Markdown Decision Planner, department managers enter regular price, wholesale unit cost, and minimum margin. The interface renders a visual pricing spectrum showing exactly where the unit cost, floor price, and authorized markdown price sit, visibly alerting the user whenever the margin safeguard intervenes. We also maintain our dedicated mobile view for floor staff doing shelf audits.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implementation has been rigorously verified through comprehensive automated testing. In Python, our Pytest suite executes 47 unit and integration tests with a 100% pass rate in 20 seconds, verifying data reconciliation, lag integrity, and business logic boundaries. In the frontend, our Playwright end-to-end test suite executes 54 browser tests across 6 device viewports from 360px mobile to 1440px desktop with zero failures, confirming zero horizontal overflow, zero uncaught errors, and healthy API proxying. Security practices include strict Pydantic bounds validation, origin-whitelisted CORS, and explicit prototype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FreshTrack Intelligence demonstrates how supervised machine learning can be translated into an actionable, explainable decision-support tool for retail food waste mitigation. We recognize clear academic boundaries: our pilot validates Store 1, and our public dataset requires simulation assumptions for starting inventory and costs. In future work, we plan to expand across all 54 stores using hierarchical multi-store gradient boosting, incorporate econometric price elasticity curves, and connect live cold-chain IoT temperature sensors. The current system achieves a 10.69% WAPE, is backed by 101 passing tests, and protects commercial margins while targeting perishable waste.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Dr. Shahade, Dr. Kolhar, and Dr. Dutta. The project codebase, empirical evaluation files, documentation, and live demonstration servers are active and ready. I am now ready to take your questions and defend any aspect of the data preprocessing, model selection, mathematical formulations, or system implementation.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3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32720" cy="5029200"/>
          </a:xfrm>
          <a:prstGeom prst="rect">
            <a:avLst/>
          </a:prstGeom>
          <a:noFill/>
        </p:spPr>
        <p:txBody>
          <a:bodyPr wrap="square">
            <a:spAutoFit/>
          </a:bodyPr>
          <a:lstStyle/>
          <a:p>
            <a:pPr>
              <a:spcAft>
                <a:spcPts val="400"/>
              </a:spcAft>
              <a:defRPr sz="1300" b="1">
                <a:solidFill>
                  <a:srgbClr val="A8BE78"/>
                </a:solidFill>
              </a:defRPr>
            </a:pPr>
            <a:r>
              <a:t>SYMBIOSIS INSTITUTE OF TECHNOLOGY, PUNE</a:t>
            </a:r>
          </a:p>
          <a:p>
            <a:pPr>
              <a:spcAft>
                <a:spcPts val="2800"/>
              </a:spcAft>
              <a:defRPr sz="1100">
                <a:solidFill>
                  <a:srgbClr val="DCE6E1"/>
                </a:solidFill>
              </a:defRPr>
            </a:pPr>
            <a:r>
              <a:t>Department of Artificial Intelligence &amp; Machine Learning · Course: AUCML (TE7483)</a:t>
            </a:r>
          </a:p>
          <a:p>
            <a:pPr>
              <a:spcAft>
                <a:spcPts val="800"/>
              </a:spcAft>
              <a:defRPr sz="3600" b="1">
                <a:solidFill>
                  <a:srgbClr val="F5F3EA"/>
                </a:solidFill>
              </a:defRPr>
            </a:pPr>
            <a:r>
              <a:t>FreshTrack Intelligence</a:t>
            </a:r>
          </a:p>
          <a:p>
            <a:pPr>
              <a:spcAft>
                <a:spcPts val="3200"/>
              </a:spcAft>
              <a:defRPr sz="1600">
                <a:solidFill>
                  <a:srgbClr val="C8DCD2"/>
                </a:solidFill>
              </a:defRPr>
            </a:pPr>
            <a:r>
              <a:t>AI-Based Retail Food Waste Prediction and Dynamic Markdown Recommendation System</a:t>
            </a:r>
          </a:p>
          <a:p>
            <a:pPr>
              <a:spcAft>
                <a:spcPts val="2400"/>
              </a:spcAft>
              <a:defRPr sz="1100">
                <a:solidFill>
                  <a:srgbClr val="A8BE78"/>
                </a:solidFill>
              </a:defRPr>
            </a:pPr>
            <a:r>
              <a:t>Course Outcomes: CO1, CO2, CO3, CO4  |  Max Marks: 30 (Weightage: 60%)  |  Store 1 (Quito, Ecuador) Benchmark</a:t>
            </a:r>
          </a:p>
          <a:p>
            <a:pPr>
              <a:defRPr sz="1100">
                <a:solidFill>
                  <a:srgbClr val="F5F3EA"/>
                </a:solidFill>
              </a:defRPr>
            </a:pPr>
            <a:r>
              <a:t>Faculty Evaluators: Dr. Aniket Shahade · Dr. Shrikrishna Kolhar · Dr. Sumanto Dutta</a:t>
            </a:r>
            <a:br/>
            <a:r>
              <a:t>Presenter: [Student Name Placeholder] · PRN: [PRN Placeholder] · Third Year B.Tech AIML (Batch 2024–28)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OPERATIONAL MOTIVATION &amp; PROBLEM FORMULATION</a:t>
            </a:r>
          </a:p>
          <a:p>
            <a:pPr>
              <a:defRPr sz="2200" b="1">
                <a:solidFill>
                  <a:srgbClr val="13201A"/>
                </a:solidFill>
              </a:defRPr>
            </a:pPr>
            <a:r>
              <a:t>The Retail Grocery Perishable Inventory Dilemma</a:t>
            </a:r>
          </a:p>
        </p:txBody>
      </p:sp>
      <p:sp>
        <p:nvSpPr>
          <p:cNvPr id="4" name="Rectangle 3"/>
          <p:cNvSpPr/>
          <p:nvPr/>
        </p:nvSpPr>
        <p:spPr>
          <a:xfrm>
            <a:off x="731520" y="1645920"/>
            <a:ext cx="512064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2926080"/>
          </a:xfrm>
          <a:prstGeom prst="rect">
            <a:avLst/>
          </a:prstGeom>
          <a:noFill/>
        </p:spPr>
        <p:txBody>
          <a:bodyPr wrap="square">
            <a:spAutoFit/>
          </a:bodyPr>
          <a:lstStyle/>
          <a:p>
            <a:pPr>
              <a:spcAft>
                <a:spcPts val="1200"/>
              </a:spcAft>
              <a:defRPr sz="1600" b="1">
                <a:solidFill>
                  <a:srgbClr val="C87D20"/>
                </a:solidFill>
              </a:defRPr>
            </a:pPr>
            <a:r>
              <a:t>Risk 1: Under-Stocking Penalty</a:t>
            </a:r>
          </a:p>
          <a:p>
            <a:pPr>
              <a:spcAft>
                <a:spcPts val="600"/>
              </a:spcAft>
              <a:defRPr sz="1200">
                <a:solidFill>
                  <a:srgbClr val="13201A"/>
                </a:solidFill>
              </a:defRPr>
            </a:pPr>
            <a:r>
              <a:t>• Unpredictable demand surges lead to stockouts on staple items.</a:t>
            </a:r>
          </a:p>
          <a:p>
            <a:pPr>
              <a:spcAft>
                <a:spcPts val="600"/>
              </a:spcAft>
              <a:defRPr sz="1200">
                <a:solidFill>
                  <a:srgbClr val="13201A"/>
                </a:solidFill>
              </a:defRPr>
            </a:pPr>
            <a:r>
              <a:t>• Direct revenue forfeiture and basket abandonment.</a:t>
            </a:r>
          </a:p>
          <a:p>
            <a:pPr>
              <a:spcAft>
                <a:spcPts val="600"/>
              </a:spcAft>
              <a:defRPr sz="1200">
                <a:solidFill>
                  <a:srgbClr val="13201A"/>
                </a:solidFill>
              </a:defRPr>
            </a:pPr>
            <a:r>
              <a:t>• Damages customer loyalty and supermarket brand perception.</a:t>
            </a:r>
          </a:p>
          <a:p>
            <a:pPr>
              <a:spcAft>
                <a:spcPts val="600"/>
              </a:spcAft>
              <a:defRPr sz="1200">
                <a:solidFill>
                  <a:srgbClr val="13201A"/>
                </a:solidFill>
              </a:defRPr>
            </a:pPr>
            <a:r>
              <a:t>• Conservative ordering prevents revenue maximization.</a:t>
            </a:r>
          </a:p>
        </p:txBody>
      </p:sp>
      <p:sp>
        <p:nvSpPr>
          <p:cNvPr id="6" name="Rectangle 5"/>
          <p:cNvSpPr/>
          <p:nvPr/>
        </p:nvSpPr>
        <p:spPr>
          <a:xfrm>
            <a:off x="6217920" y="1645920"/>
            <a:ext cx="512064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2926080"/>
          </a:xfrm>
          <a:prstGeom prst="rect">
            <a:avLst/>
          </a:prstGeom>
          <a:noFill/>
        </p:spPr>
        <p:txBody>
          <a:bodyPr wrap="square">
            <a:spAutoFit/>
          </a:bodyPr>
          <a:lstStyle/>
          <a:p>
            <a:pPr>
              <a:spcAft>
                <a:spcPts val="1200"/>
              </a:spcAft>
              <a:defRPr sz="1600" b="1">
                <a:solidFill>
                  <a:srgbClr val="BA1A1A"/>
                </a:solidFill>
              </a:defRPr>
            </a:pPr>
            <a:r>
              <a:t>Risk 2: Over-Stocking &amp; Spoilage Penalty</a:t>
            </a:r>
          </a:p>
          <a:p>
            <a:pPr>
              <a:spcAft>
                <a:spcPts val="600"/>
              </a:spcAft>
              <a:defRPr sz="1200">
                <a:solidFill>
                  <a:srgbClr val="13201A"/>
                </a:solidFill>
              </a:defRPr>
            </a:pPr>
            <a:r>
              <a:t>• Perishable goods (meat, dairy, produce) have fixed decay shelf lives.</a:t>
            </a:r>
          </a:p>
          <a:p>
            <a:pPr>
              <a:spcAft>
                <a:spcPts val="600"/>
              </a:spcAft>
              <a:defRPr sz="1200">
                <a:solidFill>
                  <a:srgbClr val="13201A"/>
                </a:solidFill>
              </a:defRPr>
            </a:pPr>
            <a:r>
              <a:t>• Unsold stock reaching expiry dates cannot legally be sold.</a:t>
            </a:r>
          </a:p>
          <a:p>
            <a:pPr>
              <a:spcAft>
                <a:spcPts val="600"/>
              </a:spcAft>
              <a:defRPr sz="1200">
                <a:solidFill>
                  <a:srgbClr val="13201A"/>
                </a:solidFill>
              </a:defRPr>
            </a:pPr>
            <a:r>
              <a:t>• Results in biological landfill waste and total capital loss.</a:t>
            </a:r>
          </a:p>
          <a:p>
            <a:pPr>
              <a:spcAft>
                <a:spcPts val="600"/>
              </a:spcAft>
              <a:defRPr sz="1200">
                <a:solidFill>
                  <a:srgbClr val="13201A"/>
                </a:solidFill>
              </a:defRPr>
            </a:pPr>
            <a:r>
              <a:t>• Manual reactive discounting stickers ('30% off') applied too late.</a:t>
            </a:r>
          </a:p>
        </p:txBody>
      </p:sp>
      <p:sp>
        <p:nvSpPr>
          <p:cNvPr id="8" name="Rectangle 7"/>
          <p:cNvSpPr/>
          <p:nvPr/>
        </p:nvSpPr>
        <p:spPr>
          <a:xfrm>
            <a:off x="731520" y="5212080"/>
            <a:ext cx="10607040" cy="1097280"/>
          </a:xfrm>
          <a:prstGeom prst="rect">
            <a:avLst/>
          </a:prstGeom>
          <a:solidFill>
            <a:srgbClr val="EAE8D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303520"/>
            <a:ext cx="10058400" cy="914400"/>
          </a:xfrm>
          <a:prstGeom prst="rect">
            <a:avLst/>
          </a:prstGeom>
          <a:noFill/>
        </p:spPr>
        <p:txBody>
          <a:bodyPr wrap="square">
            <a:spAutoFit/>
          </a:bodyPr>
          <a:lstStyle/>
          <a:p>
            <a:pPr>
              <a:defRPr sz="1200" b="1">
                <a:solidFill>
                  <a:srgbClr val="183D32"/>
                </a:solidFill>
              </a:defRPr>
            </a:pPr>
            <a:r>
              <a:t>Core Innovation:</a:t>
            </a:r>
          </a:p>
          <a:p>
            <a:pPr>
              <a:defRPr sz="1100">
                <a:solidFill>
                  <a:srgbClr val="13201A"/>
                </a:solidFill>
              </a:defRPr>
            </a:pPr>
            <a:r>
              <a:t>FreshTrack Intelligence replaces subjective store guessing with proactive recursive demand forecasting, dynamic surplus quantification across remaining shelf life, and margin-protected discount recommendations.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SYSTEM SPECIFICATION &amp; ACADEMIC DEMARCATION</a:t>
            </a:r>
          </a:p>
          <a:p>
            <a:pPr>
              <a:defRPr sz="2200" b="1">
                <a:solidFill>
                  <a:srgbClr val="13201A"/>
                </a:solidFill>
              </a:defRPr>
            </a:pPr>
            <a:r>
              <a:t>Objectives, Scope &amp; Academic Boundaries</a:t>
            </a:r>
          </a:p>
        </p:txBody>
      </p:sp>
      <p:sp>
        <p:nvSpPr>
          <p:cNvPr id="4" name="Rectangle 3"/>
          <p:cNvSpPr/>
          <p:nvPr/>
        </p:nvSpPr>
        <p:spPr>
          <a:xfrm>
            <a:off x="731520" y="1645920"/>
            <a:ext cx="2560320" cy="31089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2194560" cy="2743200"/>
          </a:xfrm>
          <a:prstGeom prst="rect">
            <a:avLst/>
          </a:prstGeom>
          <a:noFill/>
        </p:spPr>
        <p:txBody>
          <a:bodyPr wrap="square">
            <a:spAutoFit/>
          </a:bodyPr>
          <a:lstStyle/>
          <a:p>
            <a:pPr>
              <a:spcAft>
                <a:spcPts val="1000"/>
              </a:spcAft>
              <a:defRPr sz="1300" b="1">
                <a:solidFill>
                  <a:srgbClr val="183D32"/>
                </a:solidFill>
              </a:defRPr>
            </a:pPr>
            <a:r>
              <a:t>1. Accurate Forecasting</a:t>
            </a:r>
          </a:p>
          <a:p>
            <a:pPr>
              <a:defRPr sz="1100">
                <a:solidFill>
                  <a:srgbClr val="13201A"/>
                </a:solidFill>
              </a:defRPr>
            </a:pPr>
            <a:r>
              <a:t>Train gradient-boosted time-series regressor on 9 perishable categories, beating heuristic Lag-7 ordering.</a:t>
            </a:r>
          </a:p>
        </p:txBody>
      </p:sp>
      <p:sp>
        <p:nvSpPr>
          <p:cNvPr id="6" name="Rectangle 5"/>
          <p:cNvSpPr/>
          <p:nvPr/>
        </p:nvSpPr>
        <p:spPr>
          <a:xfrm>
            <a:off x="3429000" y="1645920"/>
            <a:ext cx="2560320" cy="31089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11880" y="1828800"/>
            <a:ext cx="2194560" cy="2743200"/>
          </a:xfrm>
          <a:prstGeom prst="rect">
            <a:avLst/>
          </a:prstGeom>
          <a:noFill/>
        </p:spPr>
        <p:txBody>
          <a:bodyPr wrap="square">
            <a:spAutoFit/>
          </a:bodyPr>
          <a:lstStyle/>
          <a:p>
            <a:pPr>
              <a:spcAft>
                <a:spcPts val="1000"/>
              </a:spcAft>
              <a:defRPr sz="1300" b="1">
                <a:solidFill>
                  <a:srgbClr val="183D32"/>
                </a:solidFill>
              </a:defRPr>
            </a:pPr>
            <a:r>
              <a:t>2. Horizon Projection</a:t>
            </a:r>
          </a:p>
          <a:p>
            <a:pPr>
              <a:defRPr sz="1100">
                <a:solidFill>
                  <a:srgbClr val="13201A"/>
                </a:solidFill>
              </a:defRPr>
            </a:pPr>
            <a:r>
              <a:t>Recursive multi-step forecasting across arbitrary shelf-life horizons (T_shelf) with zero data leakage.</a:t>
            </a:r>
          </a:p>
        </p:txBody>
      </p:sp>
      <p:sp>
        <p:nvSpPr>
          <p:cNvPr id="8" name="Rectangle 7"/>
          <p:cNvSpPr/>
          <p:nvPr/>
        </p:nvSpPr>
        <p:spPr>
          <a:xfrm>
            <a:off x="6126480" y="1645920"/>
            <a:ext cx="2560320" cy="31089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828800"/>
            <a:ext cx="2194560" cy="2743200"/>
          </a:xfrm>
          <a:prstGeom prst="rect">
            <a:avLst/>
          </a:prstGeom>
          <a:noFill/>
        </p:spPr>
        <p:txBody>
          <a:bodyPr wrap="square">
            <a:spAutoFit/>
          </a:bodyPr>
          <a:lstStyle/>
          <a:p>
            <a:pPr>
              <a:spcAft>
                <a:spcPts val="1000"/>
              </a:spcAft>
              <a:defRPr sz="1300" b="1">
                <a:solidFill>
                  <a:srgbClr val="183D32"/>
                </a:solidFill>
              </a:defRPr>
            </a:pPr>
            <a:r>
              <a:t>3. Risk Classification</a:t>
            </a:r>
          </a:p>
          <a:p>
            <a:pPr>
              <a:defRPr sz="1100">
                <a:solidFill>
                  <a:srgbClr val="13201A"/>
                </a:solidFill>
              </a:defRPr>
            </a:pPr>
            <a:r>
              <a:t>Quantify projected surplus units and map risk ratio into Low, Moderate, High, and Critical tiers.</a:t>
            </a:r>
          </a:p>
        </p:txBody>
      </p:sp>
      <p:sp>
        <p:nvSpPr>
          <p:cNvPr id="10" name="Rectangle 9"/>
          <p:cNvSpPr/>
          <p:nvPr/>
        </p:nvSpPr>
        <p:spPr>
          <a:xfrm>
            <a:off x="8823960" y="1645920"/>
            <a:ext cx="2560320" cy="31089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06840" y="1828800"/>
            <a:ext cx="2194560" cy="2743200"/>
          </a:xfrm>
          <a:prstGeom prst="rect">
            <a:avLst/>
          </a:prstGeom>
          <a:noFill/>
        </p:spPr>
        <p:txBody>
          <a:bodyPr wrap="square">
            <a:spAutoFit/>
          </a:bodyPr>
          <a:lstStyle/>
          <a:p>
            <a:pPr>
              <a:spcAft>
                <a:spcPts val="1000"/>
              </a:spcAft>
              <a:defRPr sz="1300" b="1">
                <a:solidFill>
                  <a:srgbClr val="183D32"/>
                </a:solidFill>
              </a:defRPr>
            </a:pPr>
            <a:r>
              <a:t>4. Margin Safeguard</a:t>
            </a:r>
          </a:p>
          <a:p>
            <a:pPr>
              <a:defRPr sz="1100">
                <a:solidFill>
                  <a:srgbClr val="13201A"/>
                </a:solidFill>
              </a:defRPr>
            </a:pPr>
            <a:r>
              <a:t>Dynamic markdown engine enforcing automated minimum-margin floor price: Price &gt;= Cost * (1 + Margin).</a:t>
            </a:r>
          </a:p>
        </p:txBody>
      </p:sp>
      <p:sp>
        <p:nvSpPr>
          <p:cNvPr id="12" name="Rectangle 11"/>
          <p:cNvSpPr/>
          <p:nvPr/>
        </p:nvSpPr>
        <p:spPr>
          <a:xfrm>
            <a:off x="731520" y="5029200"/>
            <a:ext cx="10607040" cy="1280160"/>
          </a:xfrm>
          <a:prstGeom prst="rect">
            <a:avLst/>
          </a:prstGeom>
          <a:solidFill>
            <a:srgbClr val="EAE8D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120640"/>
            <a:ext cx="10058400" cy="1097280"/>
          </a:xfrm>
          <a:prstGeom prst="rect">
            <a:avLst/>
          </a:prstGeom>
          <a:noFill/>
        </p:spPr>
        <p:txBody>
          <a:bodyPr wrap="square">
            <a:spAutoFit/>
          </a:bodyPr>
          <a:lstStyle/>
          <a:p>
            <a:pPr>
              <a:defRPr sz="1100" b="1">
                <a:solidFill>
                  <a:srgbClr val="183D32"/>
                </a:solidFill>
              </a:defRPr>
            </a:pPr>
            <a:r>
              <a:t>Academic Demarcation: Empirical vs. Simulated Boundaries</a:t>
            </a:r>
          </a:p>
          <a:p>
            <a:pPr>
              <a:defRPr sz="1000">
                <a:solidFill>
                  <a:srgbClr val="13201A"/>
                </a:solidFill>
              </a:defRPr>
            </a:pPr>
            <a:r>
              <a:t>• Empirical Ground Truth: Daily store point-of-sale sales volumes and promotion schedules from Corporacion Favorita.</a:t>
            </a:r>
            <a:br/>
            <a:r>
              <a:t>• Configurable Simulation: Public datasets omit warehouse RFID logs and procurement costs. Starting inventory, shelf-life days, procurement cost, and price elasticity are treated as configurable simulation parameters.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DATA ENGINEERING &amp; CALENDAR GRID RECONSTRUCTION</a:t>
            </a:r>
          </a:p>
          <a:p>
            <a:pPr>
              <a:defRPr sz="2200" b="1">
                <a:solidFill>
                  <a:srgbClr val="13201A"/>
                </a:solidFill>
              </a:defRPr>
            </a:pPr>
            <a:r>
              <a:t>Dataset Provenance &amp; Calendar Regularization</a:t>
            </a:r>
          </a:p>
        </p:txBody>
      </p:sp>
      <p:sp>
        <p:nvSpPr>
          <p:cNvPr id="4" name="Rectangle 3"/>
          <p:cNvSpPr/>
          <p:nvPr/>
        </p:nvSpPr>
        <p:spPr>
          <a:xfrm>
            <a:off x="7315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4114800"/>
          </a:xfrm>
          <a:prstGeom prst="rect">
            <a:avLst/>
          </a:prstGeom>
          <a:noFill/>
        </p:spPr>
        <p:txBody>
          <a:bodyPr wrap="square">
            <a:spAutoFit/>
          </a:bodyPr>
          <a:lstStyle/>
          <a:p>
            <a:pPr>
              <a:spcAft>
                <a:spcPts val="800"/>
              </a:spcAft>
              <a:defRPr sz="1500" b="1">
                <a:solidFill>
                  <a:srgbClr val="183D32"/>
                </a:solidFill>
              </a:defRPr>
            </a:pPr>
            <a:r>
              <a:t>Corporación Favorita Grocery Benchmark</a:t>
            </a:r>
          </a:p>
          <a:p>
            <a:pPr>
              <a:spcAft>
                <a:spcPts val="400"/>
              </a:spcAft>
              <a:defRPr sz="1100">
                <a:solidFill>
                  <a:srgbClr val="13201A"/>
                </a:solidFill>
              </a:defRPr>
            </a:pPr>
            <a:r>
              <a:t>• Origin: Supermarket transaction logs in Ecuador (Kaggle).</a:t>
            </a:r>
          </a:p>
          <a:p>
            <a:pPr>
              <a:spcAft>
                <a:spcPts val="400"/>
              </a:spcAft>
              <a:defRPr sz="1100">
                <a:solidFill>
                  <a:srgbClr val="13201A"/>
                </a:solidFill>
              </a:defRPr>
            </a:pPr>
            <a:r>
              <a:t>• Target Store: Store 1, an established urban store in Quito.</a:t>
            </a:r>
          </a:p>
          <a:p>
            <a:pPr>
              <a:spcAft>
                <a:spcPts val="400"/>
              </a:spcAft>
              <a:defRPr sz="1100">
                <a:solidFill>
                  <a:srgbClr val="13201A"/>
                </a:solidFill>
              </a:defRPr>
            </a:pPr>
            <a:r>
              <a:t>• 9 Perishable Categories Filtered: Produce, Dairy, Bakery, Meats, Poultry, Deli, Eggs, Prepared Foods, Seafood.</a:t>
            </a:r>
          </a:p>
          <a:p>
            <a:pPr>
              <a:spcAft>
                <a:spcPts val="400"/>
              </a:spcAft>
              <a:defRPr sz="1100">
                <a:solidFill>
                  <a:srgbClr val="13201A"/>
                </a:solidFill>
              </a:defRPr>
            </a:pPr>
            <a:r>
              <a:t>• Overall Timeline: 2016-01-01 to 2017-08-15 (593 calendar days).</a:t>
            </a:r>
          </a:p>
          <a:p>
            <a:pPr>
              <a:spcAft>
                <a:spcPts val="400"/>
              </a:spcAft>
              <a:defRPr sz="1100">
                <a:solidFill>
                  <a:srgbClr val="13201A"/>
                </a:solidFill>
              </a:defRPr>
            </a:pPr>
            <a:r>
              <a:t>• Target Variable: Daily point-of-sale volume (units / kg).</a:t>
            </a:r>
          </a:p>
          <a:p>
            <a:pPr>
              <a:spcAft>
                <a:spcPts val="400"/>
              </a:spcAft>
              <a:defRPr sz="1100">
                <a:solidFill>
                  <a:srgbClr val="13201A"/>
                </a:solidFill>
              </a:defRPr>
            </a:pPr>
            <a:r>
              <a:t>• Exogenous Variable: Count of items on active promotion.</a:t>
            </a:r>
          </a:p>
        </p:txBody>
      </p:sp>
      <p:sp>
        <p:nvSpPr>
          <p:cNvPr id="6" name="Rectangle 5"/>
          <p:cNvSpPr/>
          <p:nvPr/>
        </p:nvSpPr>
        <p:spPr>
          <a:xfrm>
            <a:off x="62179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4114800"/>
          </a:xfrm>
          <a:prstGeom prst="rect">
            <a:avLst/>
          </a:prstGeom>
          <a:noFill/>
        </p:spPr>
        <p:txBody>
          <a:bodyPr wrap="square">
            <a:spAutoFit/>
          </a:bodyPr>
          <a:lstStyle/>
          <a:p>
            <a:pPr>
              <a:spcAft>
                <a:spcPts val="800"/>
              </a:spcAft>
              <a:defRPr sz="1500" b="1">
                <a:solidFill>
                  <a:srgbClr val="183D32"/>
                </a:solidFill>
              </a:defRPr>
            </a:pPr>
            <a:r>
              <a:t>Operational Nuance: Christmas Closure Imputation</a:t>
            </a:r>
          </a:p>
          <a:p>
            <a:pPr>
              <a:spcAft>
                <a:spcPts val="400"/>
              </a:spcAft>
              <a:defRPr sz="1100">
                <a:solidFill>
                  <a:srgbClr val="13201A"/>
                </a:solidFill>
              </a:defRPr>
            </a:pPr>
            <a:r>
              <a:t>• Store Closure Gap: Ecuadorian supermarkets close annually on December 25. In raw data, 2016-12-25 is completely missing.</a:t>
            </a:r>
          </a:p>
          <a:p>
            <a:pPr>
              <a:spcAft>
                <a:spcPts val="400"/>
              </a:spcAft>
              <a:defRPr sz="1100">
                <a:solidFill>
                  <a:srgbClr val="13201A"/>
                </a:solidFill>
              </a:defRPr>
            </a:pPr>
            <a:r>
              <a:t>• Problem: Time-series lag operators require uniform daily steps. Missing dates cause autoregressive index misalignment.</a:t>
            </a:r>
          </a:p>
          <a:p>
            <a:pPr>
              <a:spcAft>
                <a:spcPts val="400"/>
              </a:spcAft>
              <a:defRPr sz="1100">
                <a:solidFill>
                  <a:srgbClr val="13201A"/>
                </a:solidFill>
              </a:defRPr>
            </a:pPr>
            <a:r>
              <a:t>• Reconciliation: src/preprocessing.py builds an unbroken daily grid and explicitly imputes verified operational zeros (sales=0.0, onpromotion=0).</a:t>
            </a:r>
          </a:p>
          <a:p>
            <a:pPr>
              <a:spcAft>
                <a:spcPts val="400"/>
              </a:spcAft>
              <a:defRPr sz="1100">
                <a:solidFill>
                  <a:srgbClr val="13201A"/>
                </a:solidFill>
              </a:defRPr>
            </a:pPr>
            <a:r>
              <a:t>• Integrity: Guarantees lag-7 and lag-14 access exactly 7 and 14 calendar days prior without temporal distortion.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METHODOLOGICAL RIGOR &amp; TEMPORAL PARTITIONING</a:t>
            </a:r>
          </a:p>
          <a:p>
            <a:pPr>
              <a:defRPr sz="2200" b="1">
                <a:solidFill>
                  <a:srgbClr val="13201A"/>
                </a:solidFill>
              </a:defRPr>
            </a:pPr>
            <a:r>
              <a:t>Feature Engineering &amp; Zero Data Leakage Protocol</a:t>
            </a:r>
          </a:p>
        </p:txBody>
      </p:sp>
      <p:sp>
        <p:nvSpPr>
          <p:cNvPr id="4" name="Rectangle 3"/>
          <p:cNvSpPr/>
          <p:nvPr/>
        </p:nvSpPr>
        <p:spPr>
          <a:xfrm>
            <a:off x="7315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4114800"/>
          </a:xfrm>
          <a:prstGeom prst="rect">
            <a:avLst/>
          </a:prstGeom>
          <a:noFill/>
        </p:spPr>
        <p:txBody>
          <a:bodyPr wrap="square">
            <a:spAutoFit/>
          </a:bodyPr>
          <a:lstStyle/>
          <a:p>
            <a:pPr>
              <a:spcAft>
                <a:spcPts val="800"/>
              </a:spcAft>
              <a:defRPr sz="1500" b="1">
                <a:solidFill>
                  <a:srgbClr val="183D32"/>
                </a:solidFill>
              </a:defRPr>
            </a:pPr>
            <a:r>
              <a:t>Leakage-Safe Feature Engineering</a:t>
            </a:r>
          </a:p>
          <a:p>
            <a:pPr>
              <a:spcAft>
                <a:spcPts val="400"/>
              </a:spcAft>
              <a:defRPr sz="1100">
                <a:solidFill>
                  <a:srgbClr val="13201A"/>
                </a:solidFill>
              </a:defRPr>
            </a:pPr>
            <a:r>
              <a:t>• Autoregressive Lags: sales_lag_1, lag_2, lag_7, lag_14 strictly shifted by &gt;= 1 day.</a:t>
            </a:r>
          </a:p>
          <a:p>
            <a:pPr>
              <a:spcAft>
                <a:spcPts val="400"/>
              </a:spcAft>
              <a:defRPr sz="1100">
                <a:solidFill>
                  <a:srgbClr val="13201A"/>
                </a:solidFill>
              </a:defRPr>
            </a:pPr>
            <a:r>
              <a:t>• Shifted Rolling Statistics: 7-day and 14-day rolling mean &amp; std.</a:t>
            </a:r>
          </a:p>
          <a:p>
            <a:pPr>
              <a:spcAft>
                <a:spcPts val="400"/>
              </a:spcAft>
              <a:defRPr sz="1100">
                <a:solidFill>
                  <a:srgbClr val="13201A"/>
                </a:solidFill>
              </a:defRPr>
            </a:pPr>
            <a:r>
              <a:t>• CRITICAL RULE: s.shift(1).rolling(W).mean() ensures day t's sales is NEVER present in day t's feature vector.</a:t>
            </a:r>
          </a:p>
          <a:p>
            <a:pPr>
              <a:spcAft>
                <a:spcPts val="400"/>
              </a:spcAft>
              <a:defRPr sz="1100">
                <a:solidFill>
                  <a:srgbClr val="13201A"/>
                </a:solidFill>
              </a:defRPr>
            </a:pPr>
            <a:r>
              <a:t>• Calendar Exogenous: day_of_week, day_of_month, month, year, is_weekend.</a:t>
            </a:r>
          </a:p>
          <a:p>
            <a:pPr>
              <a:spcAft>
                <a:spcPts val="400"/>
              </a:spcAft>
              <a:defRPr sz="1100">
                <a:solidFill>
                  <a:srgbClr val="13201A"/>
                </a:solidFill>
              </a:defRPr>
            </a:pPr>
            <a:r>
              <a:t>• Local Holiday Resolution: Quito municipal + Pichincha regional + national holidays; excludes transferred holidays &amp; workdays.</a:t>
            </a:r>
          </a:p>
        </p:txBody>
      </p:sp>
      <p:sp>
        <p:nvSpPr>
          <p:cNvPr id="6" name="Rectangle 5"/>
          <p:cNvSpPr/>
          <p:nvPr/>
        </p:nvSpPr>
        <p:spPr>
          <a:xfrm>
            <a:off x="62179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4114800"/>
          </a:xfrm>
          <a:prstGeom prst="rect">
            <a:avLst/>
          </a:prstGeom>
          <a:noFill/>
        </p:spPr>
        <p:txBody>
          <a:bodyPr wrap="square">
            <a:spAutoFit/>
          </a:bodyPr>
          <a:lstStyle/>
          <a:p>
            <a:pPr>
              <a:spcAft>
                <a:spcPts val="800"/>
              </a:spcAft>
              <a:defRPr sz="1500" b="1">
                <a:solidFill>
                  <a:srgbClr val="183D32"/>
                </a:solidFill>
              </a:defRPr>
            </a:pPr>
            <a:r>
              <a:t>Chronological Validation Holdout</a:t>
            </a:r>
          </a:p>
          <a:p>
            <a:pPr>
              <a:spcAft>
                <a:spcPts val="400"/>
              </a:spcAft>
              <a:defRPr sz="1100">
                <a:solidFill>
                  <a:srgbClr val="13201A"/>
                </a:solidFill>
              </a:defRPr>
            </a:pPr>
            <a:r>
              <a:t>• No Randomized Splitting: K-Fold cross validation is mathematically invalid for time-series as it leaks future patterns.</a:t>
            </a:r>
          </a:p>
          <a:p>
            <a:pPr>
              <a:spcAft>
                <a:spcPts val="400"/>
              </a:spcAft>
              <a:defRPr sz="1100">
                <a:solidFill>
                  <a:srgbClr val="13201A"/>
                </a:solidFill>
              </a:defRPr>
            </a:pPr>
            <a:r>
              <a:t>• Burn-in Lag Buffer: First 14 days (Jan 1-14, 2016) drop NaN lag buffers and are excluded from training.</a:t>
            </a:r>
          </a:p>
          <a:p>
            <a:pPr>
              <a:spcAft>
                <a:spcPts val="400"/>
              </a:spcAft>
              <a:defRPr sz="1100">
                <a:solidFill>
                  <a:srgbClr val="13201A"/>
                </a:solidFill>
              </a:defRPr>
            </a:pPr>
            <a:r>
              <a:t>• Training Partition: Jan 15, 2016 to Jul 16, 2017 (549 days, 4,941 samples across 9 families).</a:t>
            </a:r>
          </a:p>
          <a:p>
            <a:pPr>
              <a:spcAft>
                <a:spcPts val="400"/>
              </a:spcAft>
              <a:defRPr sz="1100">
                <a:solidFill>
                  <a:srgbClr val="13201A"/>
                </a:solidFill>
              </a:defRPr>
            </a:pPr>
            <a:r>
              <a:t>• Validation Partition: Jul 17, 2017 to Aug 15, 2017 (30 days, 270 samples).</a:t>
            </a:r>
          </a:p>
          <a:p>
            <a:pPr>
              <a:spcAft>
                <a:spcPts val="400"/>
              </a:spcAft>
              <a:defRPr sz="1100">
                <a:solidFill>
                  <a:srgbClr val="13201A"/>
                </a:solidFill>
              </a:defRPr>
            </a:pPr>
            <a:r>
              <a:t>• Temporal Assertion: Max(Train Date) &lt; Min(Val Date) strictly asserted in automated test suite.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HIGH-PERFORMANCE FASTAPI BACKEND &amp; DUAL INTERFACE TIER</a:t>
            </a:r>
          </a:p>
          <a:p>
            <a:pPr>
              <a:defRPr sz="2200" b="1">
                <a:solidFill>
                  <a:srgbClr val="13201A"/>
                </a:solidFill>
              </a:defRPr>
            </a:pPr>
            <a:r>
              <a:t>End-to-End System Architecture</a:t>
            </a:r>
          </a:p>
        </p:txBody>
      </p:sp>
      <p:sp>
        <p:nvSpPr>
          <p:cNvPr id="4" name="Rectangle 3"/>
          <p:cNvSpPr/>
          <p:nvPr/>
        </p:nvSpPr>
        <p:spPr>
          <a:xfrm>
            <a:off x="731520" y="1645920"/>
            <a:ext cx="10607040" cy="2011680"/>
          </a:xfrm>
          <a:prstGeom prst="rect">
            <a:avLst/>
          </a:prstGeom>
          <a:solidFill>
            <a:srgbClr val="EAE8D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10058400" cy="1828800"/>
          </a:xfrm>
          <a:prstGeom prst="rect">
            <a:avLst/>
          </a:prstGeom>
          <a:noFill/>
        </p:spPr>
        <p:txBody>
          <a:bodyPr wrap="square">
            <a:spAutoFit/>
          </a:bodyPr>
          <a:lstStyle/>
          <a:p>
            <a:pPr>
              <a:spcAft>
                <a:spcPts val="600"/>
              </a:spcAft>
              <a:defRPr sz="1400" b="1">
                <a:solidFill>
                  <a:srgbClr val="183D32"/>
                </a:solidFill>
              </a:defRPr>
            </a:pPr>
            <a:r>
              <a:t>Modular Data Flow &amp; Interface Architecture</a:t>
            </a:r>
          </a:p>
          <a:p>
            <a:pPr>
              <a:defRPr sz="1100" b="1">
                <a:solidFill>
                  <a:srgbClr val="13201A"/>
                </a:solidFill>
              </a:defRPr>
            </a:pPr>
            <a:r>
              <a:t>[Raw CSVs: train, stores, holidays] --&gt; [src/preprocessing.py: Regularize &amp; Shift(1)]</a:t>
            </a:r>
            <a:br/>
            <a:r>
              <a:t>--&gt; [src/train.py: Multi-Model Tournament] --&gt; [models/demand_forecast_model.joblib]</a:t>
            </a:r>
            <a:br/>
            <a:r>
              <a:t>--&gt; [backend/main.py: FastAPI REST Engine (8 Endpoints)]</a:t>
            </a:r>
            <a:br/>
            <a:r>
              <a:t>&lt;--&gt; [Next.js 16 Web App (Port 3000) &amp; Streamlit Dashboard (Port 8501)]</a:t>
            </a:r>
          </a:p>
        </p:txBody>
      </p:sp>
      <p:sp>
        <p:nvSpPr>
          <p:cNvPr id="6" name="Rectangle 5"/>
          <p:cNvSpPr/>
          <p:nvPr/>
        </p:nvSpPr>
        <p:spPr>
          <a:xfrm>
            <a:off x="731520" y="3931920"/>
            <a:ext cx="3383280" cy="228600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023360"/>
            <a:ext cx="3017520" cy="2011680"/>
          </a:xfrm>
          <a:prstGeom prst="rect">
            <a:avLst/>
          </a:prstGeom>
          <a:noFill/>
        </p:spPr>
        <p:txBody>
          <a:bodyPr wrap="square">
            <a:spAutoFit/>
          </a:bodyPr>
          <a:lstStyle/>
          <a:p>
            <a:pPr>
              <a:spcAft>
                <a:spcPts val="600"/>
              </a:spcAft>
              <a:defRPr sz="1200" b="1">
                <a:solidFill>
                  <a:srgbClr val="183D32"/>
                </a:solidFill>
              </a:defRPr>
            </a:pPr>
            <a:r>
              <a:t>Machine Learning Core</a:t>
            </a:r>
          </a:p>
          <a:p>
            <a:pPr>
              <a:defRPr sz="1000">
                <a:solidFill>
                  <a:srgbClr val="13201A"/>
                </a:solidFill>
              </a:defRPr>
            </a:pPr>
            <a:r>
              <a:t>• Python 3.12 · scikit-learn 1.7</a:t>
            </a:r>
            <a:br/>
            <a:r>
              <a:t>• pandas 2.2 · NumPy 2.1 · joblib</a:t>
            </a:r>
            <a:br/>
            <a:r>
              <a:t>• ColumnTransformer pipeline</a:t>
            </a:r>
            <a:br/>
            <a:r>
              <a:t>• HistGradientBoostingRegressor</a:t>
            </a:r>
          </a:p>
        </p:txBody>
      </p:sp>
      <p:sp>
        <p:nvSpPr>
          <p:cNvPr id="8" name="Rectangle 7"/>
          <p:cNvSpPr/>
          <p:nvPr/>
        </p:nvSpPr>
        <p:spPr>
          <a:xfrm>
            <a:off x="4343400" y="3931920"/>
            <a:ext cx="3383280" cy="228600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4023360"/>
            <a:ext cx="3017520" cy="2011680"/>
          </a:xfrm>
          <a:prstGeom prst="rect">
            <a:avLst/>
          </a:prstGeom>
          <a:noFill/>
        </p:spPr>
        <p:txBody>
          <a:bodyPr wrap="square">
            <a:spAutoFit/>
          </a:bodyPr>
          <a:lstStyle/>
          <a:p>
            <a:pPr>
              <a:spcAft>
                <a:spcPts val="600"/>
              </a:spcAft>
              <a:defRPr sz="1200" b="1">
                <a:solidFill>
                  <a:srgbClr val="183D32"/>
                </a:solidFill>
              </a:defRPr>
            </a:pPr>
            <a:r>
              <a:t>FastAPI Backend (Port 8000)</a:t>
            </a:r>
          </a:p>
          <a:p>
            <a:pPr>
              <a:defRPr sz="1000">
                <a:solidFill>
                  <a:srgbClr val="13201A"/>
                </a:solidFill>
              </a:defRPr>
            </a:pPr>
            <a:r>
              <a:t>• Uvicorn ASGI server</a:t>
            </a:r>
            <a:br/>
            <a:r>
              <a:t>• Pydantic v2 request bounds</a:t>
            </a:r>
            <a:br/>
            <a:r>
              <a:t>• Local CORS whitelisting</a:t>
            </a:r>
            <a:br/>
            <a:r>
              <a:t>• In-memory model caching</a:t>
            </a:r>
          </a:p>
        </p:txBody>
      </p:sp>
      <p:sp>
        <p:nvSpPr>
          <p:cNvPr id="10" name="Rectangle 9"/>
          <p:cNvSpPr/>
          <p:nvPr/>
        </p:nvSpPr>
        <p:spPr>
          <a:xfrm>
            <a:off x="7955280" y="3931920"/>
            <a:ext cx="3383280" cy="228600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4023360"/>
            <a:ext cx="3017520" cy="2011680"/>
          </a:xfrm>
          <a:prstGeom prst="rect">
            <a:avLst/>
          </a:prstGeom>
          <a:noFill/>
        </p:spPr>
        <p:txBody>
          <a:bodyPr wrap="square">
            <a:spAutoFit/>
          </a:bodyPr>
          <a:lstStyle/>
          <a:p>
            <a:pPr>
              <a:spcAft>
                <a:spcPts val="600"/>
              </a:spcAft>
              <a:defRPr sz="1200" b="1">
                <a:solidFill>
                  <a:srgbClr val="183D32"/>
                </a:solidFill>
              </a:defRPr>
            </a:pPr>
            <a:r>
              <a:t>Frontend &amp; Testing Tier</a:t>
            </a:r>
          </a:p>
          <a:p>
            <a:pPr>
              <a:defRPr sz="1000">
                <a:solidFill>
                  <a:srgbClr val="13201A"/>
                </a:solidFill>
              </a:defRPr>
            </a:pPr>
            <a:r>
              <a:t>• Next.js 16 (Turbopack, React 19)</a:t>
            </a:r>
            <a:br/>
            <a:r>
              <a:t>• 7 operational route views</a:t>
            </a:r>
            <a:br/>
            <a:r>
              <a:t>• Streamlit dashboard preserved</a:t>
            </a:r>
            <a:br/>
            <a:r>
              <a:t>• 47 Pytests + 54 Playwright E2E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HOLDOUT BENCHMARK COMPARISON: STORE 1 (N = 270 SAMPLES, JUL 17 – AUG 15, 2017)</a:t>
            </a:r>
          </a:p>
          <a:p>
            <a:pPr>
              <a:defRPr sz="2200" b="1">
                <a:solidFill>
                  <a:srgbClr val="13201A"/>
                </a:solidFill>
              </a:defRPr>
            </a:pPr>
            <a:r>
              <a:t>Empirical Evaluation Tournament Results</a:t>
            </a:r>
          </a:p>
        </p:txBody>
      </p:sp>
      <p:graphicFrame>
        <p:nvGraphicFramePr>
          <p:cNvPr id="4" name="Table 3"/>
          <p:cNvGraphicFramePr>
            <a:graphicFrameLocks noGrp="1"/>
          </p:cNvGraphicFramePr>
          <p:nvPr/>
        </p:nvGraphicFramePr>
        <p:xfrm>
          <a:off x="731520" y="1645920"/>
          <a:ext cx="10607040" cy="2194560"/>
        </p:xfrm>
        <a:graphic>
          <a:graphicData uri="http://schemas.openxmlformats.org/drawingml/2006/table">
            <a:tbl>
              <a:tblPr firstRow="1" bandRow="1">
                <a:tableStyleId>{5C22544A-7EE6-4342-B048-85BDC9FD1C3A}</a:tableStyleId>
              </a:tblPr>
              <a:tblGrid>
                <a:gridCol w="2926080"/>
                <a:gridCol w="1371600"/>
                <a:gridCol w="1371600"/>
                <a:gridCol w="1371600"/>
                <a:gridCol w="1371600"/>
                <a:gridCol w="2194560"/>
              </a:tblGrid>
              <a:tr h="438912">
                <a:tc>
                  <a:txBody>
                    <a:bodyPr/>
                    <a:lstStyle/>
                    <a:p>
                      <a:pPr>
                        <a:defRPr sz="1000" b="1">
                          <a:solidFill>
                            <a:srgbClr val="FFFFFF"/>
                          </a:solidFill>
                        </a:defRPr>
                      </a:pPr>
                      <a:r>
                        <a:t>Model Architecture</a:t>
                      </a:r>
                    </a:p>
                  </a:txBody>
                  <a:tcPr>
                    <a:solidFill>
                      <a:srgbClr val="183D32"/>
                    </a:solidFill>
                  </a:tcPr>
                </a:tc>
                <a:tc>
                  <a:txBody>
                    <a:bodyPr/>
                    <a:lstStyle/>
                    <a:p>
                      <a:pPr>
                        <a:defRPr sz="1000" b="1">
                          <a:solidFill>
                            <a:srgbClr val="FFFFFF"/>
                          </a:solidFill>
                        </a:defRPr>
                      </a:pPr>
                      <a:r>
                        <a:t>MAE (Units)</a:t>
                      </a:r>
                    </a:p>
                  </a:txBody>
                  <a:tcPr>
                    <a:solidFill>
                      <a:srgbClr val="183D32"/>
                    </a:solidFill>
                  </a:tcPr>
                </a:tc>
                <a:tc>
                  <a:txBody>
                    <a:bodyPr/>
                    <a:lstStyle/>
                    <a:p>
                      <a:pPr>
                        <a:defRPr sz="1000" b="1">
                          <a:solidFill>
                            <a:srgbClr val="FFFFFF"/>
                          </a:solidFill>
                        </a:defRPr>
                      </a:pPr>
                      <a:r>
                        <a:t>RMSE</a:t>
                      </a:r>
                    </a:p>
                  </a:txBody>
                  <a:tcPr>
                    <a:solidFill>
                      <a:srgbClr val="183D32"/>
                    </a:solidFill>
                  </a:tcPr>
                </a:tc>
                <a:tc>
                  <a:txBody>
                    <a:bodyPr/>
                    <a:lstStyle/>
                    <a:p>
                      <a:pPr>
                        <a:defRPr sz="1000" b="1">
                          <a:solidFill>
                            <a:srgbClr val="FFFFFF"/>
                          </a:solidFill>
                        </a:defRPr>
                      </a:pPr>
                      <a:r>
                        <a:t>WAPE (%)</a:t>
                      </a:r>
                    </a:p>
                  </a:txBody>
                  <a:tcPr>
                    <a:solidFill>
                      <a:srgbClr val="183D32"/>
                    </a:solidFill>
                  </a:tcPr>
                </a:tc>
                <a:tc>
                  <a:txBody>
                    <a:bodyPr/>
                    <a:lstStyle/>
                    <a:p>
                      <a:pPr>
                        <a:defRPr sz="1000" b="1">
                          <a:solidFill>
                            <a:srgbClr val="FFFFFF"/>
                          </a:solidFill>
                        </a:defRPr>
                      </a:pPr>
                      <a:r>
                        <a:t>Training Time</a:t>
                      </a:r>
                    </a:p>
                  </a:txBody>
                  <a:tcPr>
                    <a:solidFill>
                      <a:srgbClr val="183D32"/>
                    </a:solidFill>
                  </a:tcPr>
                </a:tc>
                <a:tc>
                  <a:txBody>
                    <a:bodyPr/>
                    <a:lstStyle/>
                    <a:p>
                      <a:pPr>
                        <a:defRPr sz="1000" b="1">
                          <a:solidFill>
                            <a:srgbClr val="FFFFFF"/>
                          </a:solidFill>
                        </a:defRPr>
                      </a:pPr>
                      <a:r>
                        <a:t>Role / Status</a:t>
                      </a:r>
                    </a:p>
                  </a:txBody>
                  <a:tcPr>
                    <a:solidFill>
                      <a:srgbClr val="183D32"/>
                    </a:solidFill>
                  </a:tcPr>
                </a:tc>
              </a:tr>
              <a:tr h="438912">
                <a:tc>
                  <a:txBody>
                    <a:bodyPr/>
                    <a:lstStyle/>
                    <a:p>
                      <a:pPr>
                        <a:defRPr sz="1000">
                          <a:solidFill>
                            <a:srgbClr val="13201A"/>
                          </a:solidFill>
                        </a:defRPr>
                      </a:pPr>
                      <a:r>
                        <a:t>Lag-7 Weekly Baseline</a:t>
                      </a:r>
                    </a:p>
                  </a:txBody>
                  <a:tcPr>
                    <a:solidFill>
                      <a:srgbClr val="FFFFFF"/>
                    </a:solidFill>
                  </a:tcPr>
                </a:tc>
                <a:tc>
                  <a:txBody>
                    <a:bodyPr/>
                    <a:lstStyle/>
                    <a:p>
                      <a:pPr>
                        <a:defRPr sz="1000">
                          <a:solidFill>
                            <a:srgbClr val="13201A"/>
                          </a:solidFill>
                        </a:defRPr>
                      </a:pPr>
                      <a:r>
                        <a:t>69.3309</a:t>
                      </a:r>
                    </a:p>
                  </a:txBody>
                  <a:tcPr>
                    <a:solidFill>
                      <a:srgbClr val="FFFFFF"/>
                    </a:solidFill>
                  </a:tcPr>
                </a:tc>
                <a:tc>
                  <a:txBody>
                    <a:bodyPr/>
                    <a:lstStyle/>
                    <a:p>
                      <a:pPr>
                        <a:defRPr sz="1000">
                          <a:solidFill>
                            <a:srgbClr val="13201A"/>
                          </a:solidFill>
                        </a:defRPr>
                      </a:pPr>
                      <a:r>
                        <a:t>153.2353</a:t>
                      </a:r>
                    </a:p>
                  </a:txBody>
                  <a:tcPr>
                    <a:solidFill>
                      <a:srgbClr val="FFFFFF"/>
                    </a:solidFill>
                  </a:tcPr>
                </a:tc>
                <a:tc>
                  <a:txBody>
                    <a:bodyPr/>
                    <a:lstStyle/>
                    <a:p>
                      <a:pPr>
                        <a:defRPr sz="1000">
                          <a:solidFill>
                            <a:srgbClr val="13201A"/>
                          </a:solidFill>
                        </a:defRPr>
                      </a:pPr>
                      <a:r>
                        <a:t>14.56%</a:t>
                      </a:r>
                    </a:p>
                  </a:txBody>
                  <a:tcPr>
                    <a:solidFill>
                      <a:srgbClr val="FFFFFF"/>
                    </a:solidFill>
                  </a:tcPr>
                </a:tc>
                <a:tc>
                  <a:txBody>
                    <a:bodyPr/>
                    <a:lstStyle/>
                    <a:p>
                      <a:pPr>
                        <a:defRPr sz="1000">
                          <a:solidFill>
                            <a:srgbClr val="13201A"/>
                          </a:solidFill>
                        </a:defRPr>
                      </a:pPr>
                      <a:r>
                        <a:t>Instant</a:t>
                      </a:r>
                    </a:p>
                  </a:txBody>
                  <a:tcPr>
                    <a:solidFill>
                      <a:srgbClr val="FFFFFF"/>
                    </a:solidFill>
                  </a:tcPr>
                </a:tc>
                <a:tc>
                  <a:txBody>
                    <a:bodyPr/>
                    <a:lstStyle/>
                    <a:p>
                      <a:pPr>
                        <a:defRPr sz="1000">
                          <a:solidFill>
                            <a:srgbClr val="13201A"/>
                          </a:solidFill>
                        </a:defRPr>
                      </a:pPr>
                      <a:r>
                        <a:t>Naive operational heuristic</a:t>
                      </a:r>
                    </a:p>
                  </a:txBody>
                  <a:tcPr>
                    <a:solidFill>
                      <a:srgbClr val="FFFFFF"/>
                    </a:solidFill>
                  </a:tcPr>
                </a:tc>
              </a:tr>
              <a:tr h="438912">
                <a:tc>
                  <a:txBody>
                    <a:bodyPr/>
                    <a:lstStyle/>
                    <a:p>
                      <a:pPr>
                        <a:defRPr sz="1000">
                          <a:solidFill>
                            <a:srgbClr val="13201A"/>
                          </a:solidFill>
                        </a:defRPr>
                      </a:pPr>
                      <a:r>
                        <a:t>Ridge Regression (alpha=10)</a:t>
                      </a:r>
                    </a:p>
                  </a:txBody>
                  <a:tcPr>
                    <a:solidFill>
                      <a:srgbClr val="FFFFFF"/>
                    </a:solidFill>
                  </a:tcPr>
                </a:tc>
                <a:tc>
                  <a:txBody>
                    <a:bodyPr/>
                    <a:lstStyle/>
                    <a:p>
                      <a:pPr>
                        <a:defRPr sz="1000">
                          <a:solidFill>
                            <a:srgbClr val="13201A"/>
                          </a:solidFill>
                        </a:defRPr>
                      </a:pPr>
                      <a:r>
                        <a:t>62.2834</a:t>
                      </a:r>
                    </a:p>
                  </a:txBody>
                  <a:tcPr>
                    <a:solidFill>
                      <a:srgbClr val="FFFFFF"/>
                    </a:solidFill>
                  </a:tcPr>
                </a:tc>
                <a:tc>
                  <a:txBody>
                    <a:bodyPr/>
                    <a:lstStyle/>
                    <a:p>
                      <a:pPr>
                        <a:defRPr sz="1000">
                          <a:solidFill>
                            <a:srgbClr val="13201A"/>
                          </a:solidFill>
                        </a:defRPr>
                      </a:pPr>
                      <a:r>
                        <a:t>126.7119</a:t>
                      </a:r>
                    </a:p>
                  </a:txBody>
                  <a:tcPr>
                    <a:solidFill>
                      <a:srgbClr val="FFFFFF"/>
                    </a:solidFill>
                  </a:tcPr>
                </a:tc>
                <a:tc>
                  <a:txBody>
                    <a:bodyPr/>
                    <a:lstStyle/>
                    <a:p>
                      <a:pPr>
                        <a:defRPr sz="1000">
                          <a:solidFill>
                            <a:srgbClr val="13201A"/>
                          </a:solidFill>
                        </a:defRPr>
                      </a:pPr>
                      <a:r>
                        <a:t>13.08%</a:t>
                      </a:r>
                    </a:p>
                  </a:txBody>
                  <a:tcPr>
                    <a:solidFill>
                      <a:srgbClr val="FFFFFF"/>
                    </a:solidFill>
                  </a:tcPr>
                </a:tc>
                <a:tc>
                  <a:txBody>
                    <a:bodyPr/>
                    <a:lstStyle/>
                    <a:p>
                      <a:pPr>
                        <a:defRPr sz="1000">
                          <a:solidFill>
                            <a:srgbClr val="13201A"/>
                          </a:solidFill>
                        </a:defRPr>
                      </a:pPr>
                      <a:r>
                        <a:t>&lt; 1.0s</a:t>
                      </a:r>
                    </a:p>
                  </a:txBody>
                  <a:tcPr>
                    <a:solidFill>
                      <a:srgbClr val="FFFFFF"/>
                    </a:solidFill>
                  </a:tcPr>
                </a:tc>
                <a:tc>
                  <a:txBody>
                    <a:bodyPr/>
                    <a:lstStyle/>
                    <a:p>
                      <a:pPr>
                        <a:defRPr sz="1000">
                          <a:solidFill>
                            <a:srgbClr val="13201A"/>
                          </a:solidFill>
                        </a:defRPr>
                      </a:pPr>
                      <a:r>
                        <a:t>Linear regularized baseline</a:t>
                      </a:r>
                    </a:p>
                  </a:txBody>
                  <a:tcPr>
                    <a:solidFill>
                      <a:srgbClr val="FFFFFF"/>
                    </a:solidFill>
                  </a:tcPr>
                </a:tc>
              </a:tr>
              <a:tr h="438912">
                <a:tc>
                  <a:txBody>
                    <a:bodyPr/>
                    <a:lstStyle/>
                    <a:p>
                      <a:pPr>
                        <a:defRPr sz="1000">
                          <a:solidFill>
                            <a:srgbClr val="13201A"/>
                          </a:solidFill>
                        </a:defRPr>
                      </a:pPr>
                      <a:r>
                        <a:t>Random Forest (100 trees)</a:t>
                      </a:r>
                    </a:p>
                  </a:txBody>
                  <a:tcPr>
                    <a:solidFill>
                      <a:srgbClr val="FFFFFF"/>
                    </a:solidFill>
                  </a:tcPr>
                </a:tc>
                <a:tc>
                  <a:txBody>
                    <a:bodyPr/>
                    <a:lstStyle/>
                    <a:p>
                      <a:pPr>
                        <a:defRPr sz="1000">
                          <a:solidFill>
                            <a:srgbClr val="13201A"/>
                          </a:solidFill>
                        </a:defRPr>
                      </a:pPr>
                      <a:r>
                        <a:t>53.7903</a:t>
                      </a:r>
                    </a:p>
                  </a:txBody>
                  <a:tcPr>
                    <a:solidFill>
                      <a:srgbClr val="FFFFFF"/>
                    </a:solidFill>
                  </a:tcPr>
                </a:tc>
                <a:tc>
                  <a:txBody>
                    <a:bodyPr/>
                    <a:lstStyle/>
                    <a:p>
                      <a:pPr>
                        <a:defRPr sz="1000">
                          <a:solidFill>
                            <a:srgbClr val="13201A"/>
                          </a:solidFill>
                        </a:defRPr>
                      </a:pPr>
                      <a:r>
                        <a:t>119.5944</a:t>
                      </a:r>
                    </a:p>
                  </a:txBody>
                  <a:tcPr>
                    <a:solidFill>
                      <a:srgbClr val="FFFFFF"/>
                    </a:solidFill>
                  </a:tcPr>
                </a:tc>
                <a:tc>
                  <a:txBody>
                    <a:bodyPr/>
                    <a:lstStyle/>
                    <a:p>
                      <a:pPr>
                        <a:defRPr sz="1000">
                          <a:solidFill>
                            <a:srgbClr val="13201A"/>
                          </a:solidFill>
                        </a:defRPr>
                      </a:pPr>
                      <a:r>
                        <a:t>11.29%</a:t>
                      </a:r>
                    </a:p>
                  </a:txBody>
                  <a:tcPr>
                    <a:solidFill>
                      <a:srgbClr val="FFFFFF"/>
                    </a:solidFill>
                  </a:tcPr>
                </a:tc>
                <a:tc>
                  <a:txBody>
                    <a:bodyPr/>
                    <a:lstStyle/>
                    <a:p>
                      <a:pPr>
                        <a:defRPr sz="1000">
                          <a:solidFill>
                            <a:srgbClr val="13201A"/>
                          </a:solidFill>
                        </a:defRPr>
                      </a:pPr>
                      <a:r>
                        <a:t>~4.8s</a:t>
                      </a:r>
                    </a:p>
                  </a:txBody>
                  <a:tcPr>
                    <a:solidFill>
                      <a:srgbClr val="FFFFFF"/>
                    </a:solidFill>
                  </a:tcPr>
                </a:tc>
                <a:tc>
                  <a:txBody>
                    <a:bodyPr/>
                    <a:lstStyle/>
                    <a:p>
                      <a:pPr>
                        <a:defRPr sz="1000">
                          <a:solidFill>
                            <a:srgbClr val="13201A"/>
                          </a:solidFill>
                        </a:defRPr>
                      </a:pPr>
                      <a:r>
                        <a:t>Non-linear ensemble candidate</a:t>
                      </a:r>
                    </a:p>
                  </a:txBody>
                  <a:tcPr>
                    <a:solidFill>
                      <a:srgbClr val="FFFFFF"/>
                    </a:solidFill>
                  </a:tcPr>
                </a:tc>
              </a:tr>
              <a:tr h="438912">
                <a:tc>
                  <a:txBody>
                    <a:bodyPr/>
                    <a:lstStyle/>
                    <a:p>
                      <a:pPr>
                        <a:defRPr sz="1000" b="1">
                          <a:solidFill>
                            <a:srgbClr val="183D32"/>
                          </a:solidFill>
                        </a:defRPr>
                      </a:pPr>
                      <a:r>
                        <a:t>HistGradientBoosting</a:t>
                      </a:r>
                    </a:p>
                  </a:txBody>
                  <a:tcPr>
                    <a:solidFill>
                      <a:srgbClr val="DCF0E6"/>
                    </a:solidFill>
                  </a:tcPr>
                </a:tc>
                <a:tc>
                  <a:txBody>
                    <a:bodyPr/>
                    <a:lstStyle/>
                    <a:p>
                      <a:pPr>
                        <a:defRPr sz="1000" b="1">
                          <a:solidFill>
                            <a:srgbClr val="183D32"/>
                          </a:solidFill>
                        </a:defRPr>
                      </a:pPr>
                      <a:r>
                        <a:t>50.9129</a:t>
                      </a:r>
                    </a:p>
                  </a:txBody>
                  <a:tcPr>
                    <a:solidFill>
                      <a:srgbClr val="DCF0E6"/>
                    </a:solidFill>
                  </a:tcPr>
                </a:tc>
                <a:tc>
                  <a:txBody>
                    <a:bodyPr/>
                    <a:lstStyle/>
                    <a:p>
                      <a:pPr>
                        <a:defRPr sz="1000" b="1">
                          <a:solidFill>
                            <a:srgbClr val="183D32"/>
                          </a:solidFill>
                        </a:defRPr>
                      </a:pPr>
                      <a:r>
                        <a:t>103.8764</a:t>
                      </a:r>
                    </a:p>
                  </a:txBody>
                  <a:tcPr>
                    <a:solidFill>
                      <a:srgbClr val="DCF0E6"/>
                    </a:solidFill>
                  </a:tcPr>
                </a:tc>
                <a:tc>
                  <a:txBody>
                    <a:bodyPr/>
                    <a:lstStyle/>
                    <a:p>
                      <a:pPr>
                        <a:defRPr sz="1000" b="1">
                          <a:solidFill>
                            <a:srgbClr val="183D32"/>
                          </a:solidFill>
                        </a:defRPr>
                      </a:pPr>
                      <a:r>
                        <a:t>10.69%</a:t>
                      </a:r>
                    </a:p>
                  </a:txBody>
                  <a:tcPr>
                    <a:solidFill>
                      <a:srgbClr val="DCF0E6"/>
                    </a:solidFill>
                  </a:tcPr>
                </a:tc>
                <a:tc>
                  <a:txBody>
                    <a:bodyPr/>
                    <a:lstStyle/>
                    <a:p>
                      <a:pPr>
                        <a:defRPr sz="1000" b="1">
                          <a:solidFill>
                            <a:srgbClr val="183D32"/>
                          </a:solidFill>
                        </a:defRPr>
                      </a:pPr>
                      <a:r>
                        <a:t>~1.2s</a:t>
                      </a:r>
                    </a:p>
                  </a:txBody>
                  <a:tcPr>
                    <a:solidFill>
                      <a:srgbClr val="DCF0E6"/>
                    </a:solidFill>
                  </a:tcPr>
                </a:tc>
                <a:tc>
                  <a:txBody>
                    <a:bodyPr/>
                    <a:lstStyle/>
                    <a:p>
                      <a:pPr>
                        <a:defRPr sz="1000" b="1">
                          <a:solidFill>
                            <a:srgbClr val="183D32"/>
                          </a:solidFill>
                        </a:defRPr>
                      </a:pPr>
                      <a:r>
                        <a:t>Selected Champion Architecture</a:t>
                      </a:r>
                    </a:p>
                  </a:txBody>
                  <a:tcPr>
                    <a:solidFill>
                      <a:srgbClr val="DCF0E6"/>
                    </a:solidFill>
                  </a:tcPr>
                </a:tc>
              </a:tr>
            </a:tbl>
          </a:graphicData>
        </a:graphic>
      </p:graphicFrame>
      <p:sp>
        <p:nvSpPr>
          <p:cNvPr id="5" name="Rectangle 4"/>
          <p:cNvSpPr/>
          <p:nvPr/>
        </p:nvSpPr>
        <p:spPr>
          <a:xfrm>
            <a:off x="731520" y="4114800"/>
            <a:ext cx="10607040" cy="210312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4206240"/>
            <a:ext cx="10058400" cy="1920240"/>
          </a:xfrm>
          <a:prstGeom prst="rect">
            <a:avLst/>
          </a:prstGeom>
          <a:noFill/>
        </p:spPr>
        <p:txBody>
          <a:bodyPr wrap="square">
            <a:spAutoFit/>
          </a:bodyPr>
          <a:lstStyle/>
          <a:p>
            <a:pPr>
              <a:spcAft>
                <a:spcPts val="400"/>
              </a:spcAft>
              <a:defRPr sz="1200" b="1">
                <a:solidFill>
                  <a:srgbClr val="183D32"/>
                </a:solidFill>
              </a:defRPr>
            </a:pPr>
            <a:r>
              <a:t>Key Findings &amp; Mathematical R² Decomposition</a:t>
            </a:r>
          </a:p>
          <a:p>
            <a:pPr>
              <a:spcAft>
                <a:spcPts val="200"/>
              </a:spcAft>
              <a:defRPr sz="1000">
                <a:solidFill>
                  <a:srgbClr val="13201A"/>
                </a:solidFill>
              </a:defRPr>
            </a:pPr>
            <a:r>
              <a:t>• Champion Selection: HistGradientBoosting reduces WAPE by 26.6% relative to the Lag-7 baseline and beats Random Forest by 0.60% WAPE and 15.72 units RMSE.</a:t>
            </a:r>
          </a:p>
          <a:p>
            <a:pPr>
              <a:spcAft>
                <a:spcPts val="200"/>
              </a:spcAft>
              <a:defRPr sz="1000">
                <a:solidFill>
                  <a:srgbClr val="13201A"/>
                </a:solidFill>
              </a:defRPr>
            </a:pPr>
            <a:r>
              <a:t>• Global Pooled R² = 0.9805: Evaluated across all 270 observations. ANOVA decomposition proves 85.57% of pooled variance represents static baseline level differences between categories (Produce mean 2,357 vs Seafood mean 26).</a:t>
            </a:r>
          </a:p>
          <a:p>
            <a:pPr>
              <a:spcAft>
                <a:spcPts val="200"/>
              </a:spcAft>
              <a:defRPr sz="1000">
                <a:solidFill>
                  <a:srgbClr val="13201A"/>
                </a:solidFill>
              </a:defRPr>
            </a:pPr>
            <a:r>
              <a:t>• Within-Family R²: Volume-weighted R² = 0.7916 (Produce R²=0.88, Bakery R²=0.74, Meats R²=0.73, Eggs R²=0.72, Dairy R²=0.71).</a:t>
            </a:r>
          </a:p>
          <a:p>
            <a:pPr>
              <a:spcAft>
                <a:spcPts val="200"/>
              </a:spcAft>
              <a:defRPr sz="1000">
                <a:solidFill>
                  <a:srgbClr val="13201A"/>
                </a:solidFill>
              </a:defRPr>
            </a:pPr>
            <a:r>
              <a:t>• Primary Metric: WAPE (10.69%) and MAE (50.91 units) are prioritized as industry-standard inventory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DECISION ENGINE FORMULATIONS &amp; COMMERCIAL SAFEGUARD ENFORCEMENT</a:t>
            </a:r>
          </a:p>
          <a:p>
            <a:pPr>
              <a:defRPr sz="2200" b="1">
                <a:solidFill>
                  <a:srgbClr val="13201A"/>
                </a:solidFill>
              </a:defRPr>
            </a:pPr>
            <a:r>
              <a:t>Waste-Risk Simulation &amp; Dynamic Markdown Safeguard</a:t>
            </a:r>
          </a:p>
        </p:txBody>
      </p:sp>
      <p:sp>
        <p:nvSpPr>
          <p:cNvPr id="4" name="Rectangle 3"/>
          <p:cNvSpPr/>
          <p:nvPr/>
        </p:nvSpPr>
        <p:spPr>
          <a:xfrm>
            <a:off x="7315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4114800"/>
          </a:xfrm>
          <a:prstGeom prst="rect">
            <a:avLst/>
          </a:prstGeom>
          <a:noFill/>
        </p:spPr>
        <p:txBody>
          <a:bodyPr wrap="square">
            <a:spAutoFit/>
          </a:bodyPr>
          <a:lstStyle/>
          <a:p>
            <a:pPr>
              <a:spcAft>
                <a:spcPts val="800"/>
              </a:spcAft>
              <a:defRPr sz="1400" b="1">
                <a:solidFill>
                  <a:srgbClr val="183D32"/>
                </a:solidFill>
              </a:defRPr>
            </a:pPr>
            <a:r>
              <a:t>Waste-Risk Quantification Engine</a:t>
            </a:r>
          </a:p>
          <a:p>
            <a:pPr>
              <a:spcAft>
                <a:spcPts val="300"/>
              </a:spcAft>
              <a:defRPr sz="1050">
                <a:solidFill>
                  <a:srgbClr val="13201A"/>
                </a:solidFill>
              </a:defRPr>
            </a:pPr>
            <a:r>
              <a:t>Recursive Multi-Step Demand: Daily forward predictions summed over shelf life: D_cum = sum(D_hat_{t+k}).</a:t>
            </a:r>
          </a:p>
          <a:p>
            <a:pPr>
              <a:spcAft>
                <a:spcPts val="300"/>
              </a:spcAft>
              <a:defRPr sz="1050">
                <a:solidFill>
                  <a:srgbClr val="13201A"/>
                </a:solidFill>
              </a:defRPr>
            </a:pPr>
            <a:r>
              <a:t>Expected Surplus: W = max(0, Starting_Inventory - D_cum).</a:t>
            </a:r>
          </a:p>
          <a:p>
            <a:pPr>
              <a:spcAft>
                <a:spcPts val="300"/>
              </a:spcAft>
              <a:defRPr sz="1050">
                <a:solidFill>
                  <a:srgbClr val="13201A"/>
                </a:solidFill>
              </a:defRPr>
            </a:pPr>
            <a:r>
              <a:t>Risk Ratio: R = W / Starting_Inventory.</a:t>
            </a:r>
          </a:p>
          <a:p>
            <a:pPr>
              <a:spcAft>
                <a:spcPts val="300"/>
              </a:spcAft>
              <a:defRPr sz="1050">
                <a:solidFill>
                  <a:srgbClr val="13201A"/>
                </a:solidFill>
              </a:defRPr>
            </a:pPr>
            <a:r>
              <a:t>Operational Risk Tiers (Configured Thresholds):</a:t>
            </a:r>
          </a:p>
          <a:p>
            <a:pPr>
              <a:spcAft>
                <a:spcPts val="300"/>
              </a:spcAft>
              <a:defRPr sz="1050">
                <a:solidFill>
                  <a:srgbClr val="13201A"/>
                </a:solidFill>
              </a:defRPr>
            </a:pPr>
            <a:r>
              <a:t>  - LOW (R &lt;= 15%): Normal turnover; 0% discount.</a:t>
            </a:r>
          </a:p>
          <a:p>
            <a:pPr>
              <a:spcAft>
                <a:spcPts val="300"/>
              </a:spcAft>
              <a:defRPr sz="1050">
                <a:solidFill>
                  <a:srgbClr val="13201A"/>
                </a:solidFill>
              </a:defRPr>
            </a:pPr>
            <a:r>
              <a:t>  - MODERATE (15% &lt; R &lt;= 40%): Mild clearance; 15% discount.</a:t>
            </a:r>
          </a:p>
          <a:p>
            <a:pPr>
              <a:spcAft>
                <a:spcPts val="300"/>
              </a:spcAft>
              <a:defRPr sz="1050">
                <a:solidFill>
                  <a:srgbClr val="13201A"/>
                </a:solidFill>
              </a:defRPr>
            </a:pPr>
            <a:r>
              <a:t>  - HIGH (40% &lt; R &lt;= 65%): Urgent clearance; 30% discount.</a:t>
            </a:r>
          </a:p>
          <a:p>
            <a:pPr>
              <a:spcAft>
                <a:spcPts val="300"/>
              </a:spcAft>
              <a:defRPr sz="1050">
                <a:solidFill>
                  <a:srgbClr val="13201A"/>
                </a:solidFill>
              </a:defRPr>
            </a:pPr>
            <a:r>
              <a:t>  - CRITICAL (R &gt; 65%): Imminent expiration; 50% liquidation.</a:t>
            </a:r>
          </a:p>
        </p:txBody>
      </p:sp>
      <p:sp>
        <p:nvSpPr>
          <p:cNvPr id="6" name="Rectangle 5"/>
          <p:cNvSpPr/>
          <p:nvPr/>
        </p:nvSpPr>
        <p:spPr>
          <a:xfrm>
            <a:off x="62179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4114800"/>
          </a:xfrm>
          <a:prstGeom prst="rect">
            <a:avLst/>
          </a:prstGeom>
          <a:noFill/>
        </p:spPr>
        <p:txBody>
          <a:bodyPr wrap="square">
            <a:spAutoFit/>
          </a:bodyPr>
          <a:lstStyle/>
          <a:p>
            <a:pPr>
              <a:spcAft>
                <a:spcPts val="800"/>
              </a:spcAft>
              <a:defRPr sz="1400" b="1">
                <a:solidFill>
                  <a:srgbClr val="183D32"/>
                </a:solidFill>
              </a:defRPr>
            </a:pPr>
            <a:r>
              <a:t>Margin Floor Safeguard Protocol</a:t>
            </a:r>
          </a:p>
          <a:p>
            <a:pPr>
              <a:spcAft>
                <a:spcPts val="300"/>
              </a:spcAft>
              <a:defRPr sz="1050">
                <a:solidFill>
                  <a:srgbClr val="13201A"/>
                </a:solidFill>
              </a:defRPr>
            </a:pPr>
            <a:r>
              <a:t>Retail Unit Economics Protection: Retailers must not sell below wholesale procurement cost.</a:t>
            </a:r>
          </a:p>
          <a:p>
            <a:pPr>
              <a:spcAft>
                <a:spcPts val="300"/>
              </a:spcAft>
              <a:defRPr sz="1050">
                <a:solidFill>
                  <a:srgbClr val="13201A"/>
                </a:solidFill>
              </a:defRPr>
            </a:pPr>
            <a:r>
              <a:t>Governing Cost Floor Equation:</a:t>
            </a:r>
            <a:br/>
            <a:r>
              <a:t>Floor Price = round(Unit Cost * (1 + Min_Margin_Pct), 2)</a:t>
            </a:r>
          </a:p>
          <a:p>
            <a:pPr>
              <a:spcAft>
                <a:spcPts val="300"/>
              </a:spcAft>
              <a:defRPr sz="1050">
                <a:solidFill>
                  <a:srgbClr val="13201A"/>
                </a:solidFill>
              </a:defRPr>
            </a:pPr>
            <a:r>
              <a:t>Automated Downgrade Ladder: If Proposed Price &lt; Floor Price:</a:t>
            </a:r>
          </a:p>
          <a:p>
            <a:pPr>
              <a:spcAft>
                <a:spcPts val="300"/>
              </a:spcAft>
              <a:defRPr sz="1050">
                <a:solidFill>
                  <a:srgbClr val="13201A"/>
                </a:solidFill>
              </a:defRPr>
            </a:pPr>
            <a:r>
              <a:t>  1. Test 50% discount -&gt; Breaches floor?</a:t>
            </a:r>
          </a:p>
          <a:p>
            <a:pPr>
              <a:spcAft>
                <a:spcPts val="300"/>
              </a:spcAft>
              <a:defRPr sz="1050">
                <a:solidFill>
                  <a:srgbClr val="13201A"/>
                </a:solidFill>
              </a:defRPr>
            </a:pPr>
            <a:r>
              <a:t>  2. Step down to 30% discount -&gt; Breaches floor?</a:t>
            </a:r>
          </a:p>
          <a:p>
            <a:pPr>
              <a:spcAft>
                <a:spcPts val="300"/>
              </a:spcAft>
              <a:defRPr sz="1050">
                <a:solidFill>
                  <a:srgbClr val="13201A"/>
                </a:solidFill>
              </a:defRPr>
            </a:pPr>
            <a:r>
              <a:t>  3. Step down to 15% discount -&gt; Breaches floor?</a:t>
            </a:r>
          </a:p>
          <a:p>
            <a:pPr>
              <a:spcAft>
                <a:spcPts val="300"/>
              </a:spcAft>
              <a:defRPr sz="1050">
                <a:solidFill>
                  <a:srgbClr val="13201A"/>
                </a:solidFill>
              </a:defRPr>
            </a:pPr>
            <a:r>
              <a:t>  4. Downgrade to 0% (Full Price) to protect capital.</a:t>
            </a:r>
          </a:p>
          <a:p>
            <a:pPr>
              <a:spcAft>
                <a:spcPts val="300"/>
              </a:spcAft>
              <a:defRPr sz="1050">
                <a:solidFill>
                  <a:srgbClr val="13201A"/>
                </a:solidFill>
              </a:defRPr>
            </a:pPr>
            <a:r>
              <a:t>Audit Trail: Returns explanation string and margin_safeguard_triggered=True in JSON response.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NEXT.JS 16 WEB APPLICATION (STITCH DESIGN) &amp; STREAMLIT DASHBOARD</a:t>
            </a:r>
          </a:p>
          <a:p>
            <a:pPr>
              <a:defRPr sz="2200" b="1">
                <a:solidFill>
                  <a:srgbClr val="13201A"/>
                </a:solidFill>
              </a:defRPr>
            </a:pPr>
            <a:r>
              <a:t>Operational Interfaces &amp; System Walkthrough</a:t>
            </a:r>
          </a:p>
        </p:txBody>
      </p:sp>
      <p:sp>
        <p:nvSpPr>
          <p:cNvPr id="4" name="Rectangle 3"/>
          <p:cNvSpPr/>
          <p:nvPr/>
        </p:nvSpPr>
        <p:spPr>
          <a:xfrm>
            <a:off x="731520" y="1645920"/>
            <a:ext cx="256032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2194560" cy="2926080"/>
          </a:xfrm>
          <a:prstGeom prst="rect">
            <a:avLst/>
          </a:prstGeom>
          <a:noFill/>
        </p:spPr>
        <p:txBody>
          <a:bodyPr wrap="square">
            <a:spAutoFit/>
          </a:bodyPr>
          <a:lstStyle/>
          <a:p>
            <a:pPr>
              <a:spcAft>
                <a:spcPts val="800"/>
              </a:spcAft>
              <a:defRPr sz="1300" b="1">
                <a:solidFill>
                  <a:srgbClr val="183D32"/>
                </a:solidFill>
              </a:defRPr>
            </a:pPr>
            <a:r>
              <a:t>Screen 1: Overview</a:t>
            </a:r>
          </a:p>
          <a:p>
            <a:pPr>
              <a:defRPr sz="1050">
                <a:solidFill>
                  <a:srgbClr val="13201A"/>
                </a:solidFill>
              </a:defRPr>
            </a:pPr>
            <a:r>
              <a:t>• KPI metric cards</a:t>
            </a:r>
            <a:br/>
            <a:r>
              <a:t>• 9-family risk table</a:t>
            </a:r>
            <a:br/>
            <a:r>
              <a:t>• Live FastAPI synchronization</a:t>
            </a:r>
            <a:br/>
            <a:r>
              <a:t>• Filter by risk category</a:t>
            </a:r>
          </a:p>
        </p:txBody>
      </p:sp>
      <p:sp>
        <p:nvSpPr>
          <p:cNvPr id="6" name="Rectangle 5"/>
          <p:cNvSpPr/>
          <p:nvPr/>
        </p:nvSpPr>
        <p:spPr>
          <a:xfrm>
            <a:off x="3429000" y="1645920"/>
            <a:ext cx="256032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11880" y="1828800"/>
            <a:ext cx="2194560" cy="2926080"/>
          </a:xfrm>
          <a:prstGeom prst="rect">
            <a:avLst/>
          </a:prstGeom>
          <a:noFill/>
        </p:spPr>
        <p:txBody>
          <a:bodyPr wrap="square">
            <a:spAutoFit/>
          </a:bodyPr>
          <a:lstStyle/>
          <a:p>
            <a:pPr>
              <a:spcAft>
                <a:spcPts val="800"/>
              </a:spcAft>
              <a:defRPr sz="1300" b="1">
                <a:solidFill>
                  <a:srgbClr val="183D32"/>
                </a:solidFill>
              </a:defRPr>
            </a:pPr>
            <a:r>
              <a:t>Screen 2: Demand Forecast</a:t>
            </a:r>
          </a:p>
          <a:p>
            <a:pPr>
              <a:defRPr sz="1050">
                <a:solidFill>
                  <a:srgbClr val="13201A"/>
                </a:solidFill>
              </a:defRPr>
            </a:pPr>
            <a:r>
              <a:t>• Horizon slider (1-14 days)</a:t>
            </a:r>
            <a:br/>
            <a:r>
              <a:t>• Recursive forecast curves</a:t>
            </a:r>
            <a:br/>
            <a:r>
              <a:t>• Peak day detection</a:t>
            </a:r>
            <a:br/>
            <a:r>
              <a:t>• CSV export functionality</a:t>
            </a:r>
          </a:p>
        </p:txBody>
      </p:sp>
      <p:sp>
        <p:nvSpPr>
          <p:cNvPr id="8" name="Rectangle 7"/>
          <p:cNvSpPr/>
          <p:nvPr/>
        </p:nvSpPr>
        <p:spPr>
          <a:xfrm>
            <a:off x="6126480" y="1645920"/>
            <a:ext cx="256032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828800"/>
            <a:ext cx="2194560" cy="2926080"/>
          </a:xfrm>
          <a:prstGeom prst="rect">
            <a:avLst/>
          </a:prstGeom>
          <a:noFill/>
        </p:spPr>
        <p:txBody>
          <a:bodyPr wrap="square">
            <a:spAutoFit/>
          </a:bodyPr>
          <a:lstStyle/>
          <a:p>
            <a:pPr>
              <a:spcAft>
                <a:spcPts val="800"/>
              </a:spcAft>
              <a:defRPr sz="1300" b="1">
                <a:solidFill>
                  <a:srgbClr val="183D32"/>
                </a:solidFill>
              </a:defRPr>
            </a:pPr>
            <a:r>
              <a:t>Screen 3: Inventory Risk</a:t>
            </a:r>
          </a:p>
          <a:p>
            <a:pPr>
              <a:defRPr sz="1050">
                <a:solidFill>
                  <a:srgbClr val="13201A"/>
                </a:solidFill>
              </a:defRPr>
            </a:pPr>
            <a:r>
              <a:t>• Batch stock &amp; shelf-life inputs</a:t>
            </a:r>
            <a:br/>
            <a:r>
              <a:t>• Daily inventory burn-down</a:t>
            </a:r>
            <a:br/>
            <a:r>
              <a:t>• Surplus unit quantification</a:t>
            </a:r>
            <a:br/>
            <a:r>
              <a:t>• Simulation disclaimer banner</a:t>
            </a:r>
          </a:p>
        </p:txBody>
      </p:sp>
      <p:sp>
        <p:nvSpPr>
          <p:cNvPr id="10" name="Rectangle 9"/>
          <p:cNvSpPr/>
          <p:nvPr/>
        </p:nvSpPr>
        <p:spPr>
          <a:xfrm>
            <a:off x="8823960" y="1645920"/>
            <a:ext cx="2560320" cy="329184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06840" y="1828800"/>
            <a:ext cx="2194560" cy="2926080"/>
          </a:xfrm>
          <a:prstGeom prst="rect">
            <a:avLst/>
          </a:prstGeom>
          <a:noFill/>
        </p:spPr>
        <p:txBody>
          <a:bodyPr wrap="square">
            <a:spAutoFit/>
          </a:bodyPr>
          <a:lstStyle/>
          <a:p>
            <a:pPr>
              <a:spcAft>
                <a:spcPts val="800"/>
              </a:spcAft>
              <a:defRPr sz="1300" b="1">
                <a:solidFill>
                  <a:srgbClr val="183D32"/>
                </a:solidFill>
              </a:defRPr>
            </a:pPr>
            <a:r>
              <a:t>Screen 4: Markdown Planner</a:t>
            </a:r>
          </a:p>
          <a:p>
            <a:pPr>
              <a:defRPr sz="1050">
                <a:solidFill>
                  <a:srgbClr val="13201A"/>
                </a:solidFill>
              </a:defRPr>
            </a:pPr>
            <a:r>
              <a:t>• Regular MSRP &amp; unit cost inputs</a:t>
            </a:r>
            <a:br/>
            <a:r>
              <a:t>• Minimum margin slider</a:t>
            </a:r>
            <a:br/>
            <a:r>
              <a:t>• Visual pricing spectrum</a:t>
            </a:r>
            <a:br/>
            <a:r>
              <a:t>• Cost-floor breach alert card</a:t>
            </a:r>
          </a:p>
        </p:txBody>
      </p:sp>
      <p:sp>
        <p:nvSpPr>
          <p:cNvPr id="12" name="Rectangle 11"/>
          <p:cNvSpPr/>
          <p:nvPr/>
        </p:nvSpPr>
        <p:spPr>
          <a:xfrm>
            <a:off x="731520" y="5212080"/>
            <a:ext cx="10607040" cy="1097280"/>
          </a:xfrm>
          <a:prstGeom prst="rect">
            <a:avLst/>
          </a:prstGeom>
          <a:solidFill>
            <a:srgbClr val="EAE8D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03520"/>
            <a:ext cx="10058400" cy="914400"/>
          </a:xfrm>
          <a:prstGeom prst="rect">
            <a:avLst/>
          </a:prstGeom>
          <a:noFill/>
        </p:spPr>
        <p:txBody>
          <a:bodyPr wrap="square">
            <a:spAutoFit/>
          </a:bodyPr>
          <a:lstStyle/>
          <a:p>
            <a:pPr>
              <a:defRPr sz="1100" b="1">
                <a:solidFill>
                  <a:srgbClr val="183D32"/>
                </a:solidFill>
              </a:defRPr>
            </a:pPr>
            <a:r>
              <a:t>Dual-Interface Capability &amp; Dedicated Mobile Dashboard:</a:t>
            </a:r>
          </a:p>
          <a:p>
            <a:pPr>
              <a:defRPr sz="1000">
                <a:solidFill>
                  <a:srgbClr val="13201A"/>
                </a:solidFill>
              </a:defRPr>
            </a:pPr>
            <a:r>
              <a:t>In addition to desktop views, Screen 6 provides a dedicated handheld mobile dashboard (/mobile) optimized for floor staff conducting shelf audits, while the original Streamlit application (app/dashboard.py on port 8501) remains preserved.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AUTOMATED TEST COVERAGE, END-TO-END BROWSER AUDITS &amp; SECURITY CONTROLS</a:t>
            </a:r>
          </a:p>
          <a:p>
            <a:pPr>
              <a:defRPr sz="2200" b="1">
                <a:solidFill>
                  <a:srgbClr val="13201A"/>
                </a:solidFill>
              </a:defRPr>
            </a:pPr>
            <a:r>
              <a:t>Software Quality, Testing &amp; Security Verification</a:t>
            </a:r>
          </a:p>
        </p:txBody>
      </p:sp>
      <p:sp>
        <p:nvSpPr>
          <p:cNvPr id="4" name="Rectangle 3"/>
          <p:cNvSpPr/>
          <p:nvPr/>
        </p:nvSpPr>
        <p:spPr>
          <a:xfrm>
            <a:off x="7315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4114800"/>
          </a:xfrm>
          <a:prstGeom prst="rect">
            <a:avLst/>
          </a:prstGeom>
          <a:noFill/>
        </p:spPr>
        <p:txBody>
          <a:bodyPr wrap="square">
            <a:spAutoFit/>
          </a:bodyPr>
          <a:lstStyle/>
          <a:p>
            <a:pPr>
              <a:spcAft>
                <a:spcPts val="800"/>
              </a:spcAft>
              <a:defRPr sz="1400" b="1">
                <a:solidFill>
                  <a:srgbClr val="183D32"/>
                </a:solidFill>
              </a:defRPr>
            </a:pPr>
            <a:r>
              <a:t>Python Pytest Test Suite: 47 / 47 PASSED</a:t>
            </a:r>
          </a:p>
          <a:p>
            <a:pPr>
              <a:spcAft>
                <a:spcPts val="300"/>
              </a:spcAft>
              <a:defRPr sz="1000">
                <a:solidFill>
                  <a:srgbClr val="13201A"/>
                </a:solidFill>
              </a:defRPr>
            </a:pPr>
            <a:r>
              <a:t>• test_preprocessing.py (9 tests): Validates raw CSV schemas, store filtering, Christmas closure imputation, and shift(1) lag integrity.</a:t>
            </a:r>
          </a:p>
          <a:p>
            <a:pPr>
              <a:spcAft>
                <a:spcPts val="300"/>
              </a:spcAft>
              <a:defRPr sz="1000">
                <a:solidFill>
                  <a:srgbClr val="13201A"/>
                </a:solidFill>
              </a:defRPr>
            </a:pPr>
            <a:r>
              <a:t>• test_train.py (8 tests): Validates metric calculations, negative clipping, zero-division WAPE, and model persistence.</a:t>
            </a:r>
          </a:p>
          <a:p>
            <a:pPr>
              <a:spcAft>
                <a:spcPts val="300"/>
              </a:spcAft>
              <a:defRPr sz="1000">
                <a:solidFill>
                  <a:srgbClr val="13201A"/>
                </a:solidFill>
              </a:defRPr>
            </a:pPr>
            <a:r>
              <a:t>• test_waste_risk.py (9 tests): Validates recursive forecasting buffer, threshold boundaries (15%, 40%, 65%), and zero leakage.</a:t>
            </a:r>
          </a:p>
          <a:p>
            <a:pPr>
              <a:spcAft>
                <a:spcPts val="300"/>
              </a:spcAft>
              <a:defRPr sz="1000">
                <a:solidFill>
                  <a:srgbClr val="13201A"/>
                </a:solidFill>
              </a:defRPr>
            </a:pPr>
            <a:r>
              <a:t>• test_markdown_rules.py (5 tests): Validates discount tiers (0%, 15%, 30%, 50%) and margin floor downgrade ladders.</a:t>
            </a:r>
          </a:p>
          <a:p>
            <a:pPr>
              <a:spcAft>
                <a:spcPts val="300"/>
              </a:spcAft>
              <a:defRPr sz="1000">
                <a:solidFill>
                  <a:srgbClr val="13201A"/>
                </a:solidFill>
              </a:defRPr>
            </a:pPr>
            <a:r>
              <a:t>• test_api.py (11 tests): Validates all 8 FastAPI endpoints, Pydantic bounds, and error status codes.</a:t>
            </a:r>
          </a:p>
          <a:p>
            <a:pPr>
              <a:spcAft>
                <a:spcPts val="300"/>
              </a:spcAft>
              <a:defRPr sz="1000">
                <a:solidFill>
                  <a:srgbClr val="13201A"/>
                </a:solidFill>
              </a:defRPr>
            </a:pPr>
            <a:r>
              <a:t>• test_dashboard.py (5 tests): Validates Streamlit loaders.</a:t>
            </a:r>
          </a:p>
        </p:txBody>
      </p:sp>
      <p:sp>
        <p:nvSpPr>
          <p:cNvPr id="6" name="Rectangle 5"/>
          <p:cNvSpPr/>
          <p:nvPr/>
        </p:nvSpPr>
        <p:spPr>
          <a:xfrm>
            <a:off x="62179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4114800"/>
          </a:xfrm>
          <a:prstGeom prst="rect">
            <a:avLst/>
          </a:prstGeom>
          <a:noFill/>
        </p:spPr>
        <p:txBody>
          <a:bodyPr wrap="square">
            <a:spAutoFit/>
          </a:bodyPr>
          <a:lstStyle/>
          <a:p>
            <a:pPr>
              <a:spcAft>
                <a:spcPts val="800"/>
              </a:spcAft>
              <a:defRPr sz="1400" b="1">
                <a:solidFill>
                  <a:srgbClr val="183D32"/>
                </a:solidFill>
              </a:defRPr>
            </a:pPr>
            <a:r>
              <a:t>Playwright Browser E2E Suite: 54 / 54 PASSED</a:t>
            </a:r>
          </a:p>
          <a:p>
            <a:pPr>
              <a:spcAft>
                <a:spcPts val="300"/>
              </a:spcAft>
              <a:defRPr sz="1000">
                <a:solidFill>
                  <a:srgbClr val="13201A"/>
                </a:solidFill>
              </a:defRPr>
            </a:pPr>
            <a:r>
              <a:t>• Tested Across 6 Viewports: Desktop 1440px, Laptop 1280px, Tablet 768px, Mobile Large 430px, Mobile Medium 390px, Mobile Small 360px.</a:t>
            </a:r>
          </a:p>
          <a:p>
            <a:pPr>
              <a:spcAft>
                <a:spcPts val="300"/>
              </a:spcAft>
              <a:defRPr sz="1000">
                <a:solidFill>
                  <a:srgbClr val="13201A"/>
                </a:solidFill>
              </a:defRPr>
            </a:pPr>
            <a:r>
              <a:t>• Responsive Layout: Zero horizontal page overflow across all routes.</a:t>
            </a:r>
          </a:p>
          <a:p>
            <a:pPr>
              <a:spcAft>
                <a:spcPts val="300"/>
              </a:spcAft>
              <a:defRPr sz="1000">
                <a:solidFill>
                  <a:srgbClr val="13201A"/>
                </a:solidFill>
              </a:defRPr>
            </a:pPr>
            <a:r>
              <a:t>• Console Health: Zero uncaught JavaScript errors or unhandled exceptions.</a:t>
            </a:r>
          </a:p>
          <a:p>
            <a:pPr>
              <a:spcAft>
                <a:spcPts val="300"/>
              </a:spcAft>
              <a:defRPr sz="1000">
                <a:solidFill>
                  <a:srgbClr val="13201A"/>
                </a:solidFill>
              </a:defRPr>
            </a:pPr>
            <a:r>
              <a:t>• API Proxying: Verified Next.js reverse proxy to FastAPI on port 8000.</a:t>
            </a:r>
          </a:p>
          <a:p>
            <a:pPr>
              <a:spcAft>
                <a:spcPts val="300"/>
              </a:spcAft>
              <a:defRPr sz="1000">
                <a:solidFill>
                  <a:srgbClr val="13201A"/>
                </a:solidFill>
              </a:defRPr>
            </a:pPr>
            <a:r>
              <a:t>• Interactive Workflows: Forecast recomputation, risk simulation, and markdown safeguard triggers verified via automated browser actions.</a:t>
            </a:r>
          </a:p>
          <a:p>
            <a:pPr>
              <a:spcAft>
                <a:spcPts val="300"/>
              </a:spcAft>
              <a:defRPr sz="1000">
                <a:solidFill>
                  <a:srgbClr val="13201A"/>
                </a:solidFill>
              </a:defRPr>
            </a:pPr>
            <a:r>
              <a:t>• Security: Whitelisted local CORS, Pydantic request sanitization, prototype login disclosure.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1005840"/>
          </a:xfrm>
          <a:prstGeom prst="rect">
            <a:avLst/>
          </a:prstGeom>
          <a:noFill/>
        </p:spPr>
        <p:txBody>
          <a:bodyPr wrap="square" lIns="0" tIns="0" rIns="0" bIns="0">
            <a:spAutoFit/>
          </a:bodyPr>
          <a:lstStyle/>
          <a:p>
            <a:pPr>
              <a:spcAft>
                <a:spcPts val="400"/>
              </a:spcAft>
              <a:defRPr sz="1000" b="1">
                <a:solidFill>
                  <a:srgbClr val="416659"/>
                </a:solidFill>
              </a:defRPr>
            </a:pPr>
            <a:r>
              <a:t>ACADEMIC SYNTHESIS &amp; ENTERPRISE SCALING TRAJECTORY</a:t>
            </a:r>
          </a:p>
          <a:p>
            <a:pPr>
              <a:defRPr sz="2200" b="1">
                <a:solidFill>
                  <a:srgbClr val="13201A"/>
                </a:solidFill>
              </a:defRPr>
            </a:pPr>
            <a:r>
              <a:t>Limitations, Future Roadmap &amp; Conclusion</a:t>
            </a:r>
          </a:p>
        </p:txBody>
      </p:sp>
      <p:sp>
        <p:nvSpPr>
          <p:cNvPr id="4" name="Rectangle 3"/>
          <p:cNvSpPr/>
          <p:nvPr/>
        </p:nvSpPr>
        <p:spPr>
          <a:xfrm>
            <a:off x="7315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4572000" cy="4114800"/>
          </a:xfrm>
          <a:prstGeom prst="rect">
            <a:avLst/>
          </a:prstGeom>
          <a:noFill/>
        </p:spPr>
        <p:txBody>
          <a:bodyPr wrap="square">
            <a:spAutoFit/>
          </a:bodyPr>
          <a:lstStyle/>
          <a:p>
            <a:pPr>
              <a:spcAft>
                <a:spcPts val="800"/>
              </a:spcAft>
              <a:defRPr sz="1400" b="1">
                <a:solidFill>
                  <a:srgbClr val="183D32"/>
                </a:solidFill>
              </a:defRPr>
            </a:pPr>
            <a:r>
              <a:t>Academic Limitations &amp; Scope</a:t>
            </a:r>
          </a:p>
          <a:p>
            <a:pPr>
              <a:spcAft>
                <a:spcPts val="600"/>
              </a:spcAft>
              <a:defRPr sz="1100">
                <a:solidFill>
                  <a:srgbClr val="13201A"/>
                </a:solidFill>
              </a:defRPr>
            </a:pPr>
            <a:r>
              <a:t>• Single-Store Pilot: Model trained and validated on Store 1 (Quito). Cross-store generalization is an enterprise milestone.</a:t>
            </a:r>
          </a:p>
          <a:p>
            <a:pPr>
              <a:spcAft>
                <a:spcPts val="600"/>
              </a:spcAft>
              <a:defRPr sz="1100">
                <a:solidFill>
                  <a:srgbClr val="13201A"/>
                </a:solidFill>
              </a:defRPr>
            </a:pPr>
            <a:r>
              <a:t>• Simulation Boundary: Public datasets do not record warehouse RFID tags, physical batch expiry dates, or procurement costs.</a:t>
            </a:r>
          </a:p>
          <a:p>
            <a:pPr>
              <a:spcAft>
                <a:spcPts val="600"/>
              </a:spcAft>
              <a:defRPr sz="1100">
                <a:solidFill>
                  <a:srgbClr val="13201A"/>
                </a:solidFill>
              </a:defRPr>
            </a:pPr>
            <a:r>
              <a:t>• Operational Discount Tiers: Markdown rates (15%, 30%, 50%) are discrete decision rules, not econometric price elasticity curves.</a:t>
            </a:r>
          </a:p>
          <a:p>
            <a:pPr>
              <a:spcAft>
                <a:spcPts val="600"/>
              </a:spcAft>
              <a:defRPr sz="1100">
                <a:solidFill>
                  <a:srgbClr val="13201A"/>
                </a:solidFill>
              </a:defRPr>
            </a:pPr>
            <a:r>
              <a:t>• Prototype Authentication: Login interface is an evaluative prototype demonstration.</a:t>
            </a:r>
          </a:p>
        </p:txBody>
      </p:sp>
      <p:sp>
        <p:nvSpPr>
          <p:cNvPr id="6" name="Rectangle 5"/>
          <p:cNvSpPr/>
          <p:nvPr/>
        </p:nvSpPr>
        <p:spPr>
          <a:xfrm>
            <a:off x="6217920" y="1645920"/>
            <a:ext cx="5120640" cy="4480560"/>
          </a:xfrm>
          <a:prstGeom prst="rect">
            <a:avLst/>
          </a:prstGeom>
          <a:solidFill>
            <a:srgbClr val="FFFFFF"/>
          </a:solidFill>
          <a:ln w="19050">
            <a:solidFill>
              <a:srgbClr val="C3C8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572000" cy="4114800"/>
          </a:xfrm>
          <a:prstGeom prst="rect">
            <a:avLst/>
          </a:prstGeom>
          <a:noFill/>
        </p:spPr>
        <p:txBody>
          <a:bodyPr wrap="square">
            <a:spAutoFit/>
          </a:bodyPr>
          <a:lstStyle/>
          <a:p>
            <a:pPr>
              <a:spcAft>
                <a:spcPts val="800"/>
              </a:spcAft>
              <a:defRPr sz="1400" b="1">
                <a:solidFill>
                  <a:srgbClr val="183D32"/>
                </a:solidFill>
              </a:defRPr>
            </a:pPr>
            <a:r>
              <a:t>Future Enterprise Roadmap</a:t>
            </a:r>
          </a:p>
          <a:p>
            <a:pPr>
              <a:spcAft>
                <a:spcPts val="600"/>
              </a:spcAft>
              <a:defRPr sz="1100">
                <a:solidFill>
                  <a:srgbClr val="13201A"/>
                </a:solidFill>
              </a:defRPr>
            </a:pPr>
            <a:r>
              <a:t>• Multi-Store Hierarchical Model: Scale across all 54 Corporación Favorita stores via hierarchical LightGBM models.</a:t>
            </a:r>
          </a:p>
          <a:p>
            <a:pPr>
              <a:spcAft>
                <a:spcPts val="600"/>
              </a:spcAft>
              <a:defRPr sz="1100">
                <a:solidFill>
                  <a:srgbClr val="13201A"/>
                </a:solidFill>
              </a:defRPr>
            </a:pPr>
            <a:r>
              <a:t>• Causal Price Elasticity: Use historical promotional variations to estimate category-specific demand elasticity curves.</a:t>
            </a:r>
          </a:p>
          <a:p>
            <a:pPr>
              <a:spcAft>
                <a:spcPts val="600"/>
              </a:spcAft>
              <a:defRPr sz="1100">
                <a:solidFill>
                  <a:srgbClr val="13201A"/>
                </a:solidFill>
              </a:defRPr>
            </a:pPr>
            <a:r>
              <a:t>• Cold-Chain IoT Telemetry: Integrate refrigerated shelf temperature sensors to dynamically adjust remaining shelf life.</a:t>
            </a:r>
          </a:p>
          <a:p>
            <a:pPr>
              <a:spcAft>
                <a:spcPts val="600"/>
              </a:spcAft>
              <a:defRPr sz="1100">
                <a:solidFill>
                  <a:srgbClr val="13201A"/>
                </a:solidFill>
              </a:defRPr>
            </a:pPr>
            <a:r>
              <a:t>• ERP Integration: Automated EDI connectors to live SAP / Oracle WMS inventory feeds.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3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4572000"/>
          </a:xfrm>
          <a:prstGeom prst="rect">
            <a:avLst/>
          </a:prstGeom>
          <a:noFill/>
        </p:spPr>
        <p:txBody>
          <a:bodyPr wrap="square">
            <a:spAutoFit/>
          </a:bodyPr>
          <a:lstStyle/>
          <a:p>
            <a:pPr>
              <a:spcAft>
                <a:spcPts val="800"/>
              </a:spcAft>
              <a:defRPr sz="3600" b="1">
                <a:solidFill>
                  <a:srgbClr val="F5F3EA"/>
                </a:solidFill>
              </a:defRPr>
            </a:pPr>
            <a:r>
              <a:t>Thank You</a:t>
            </a:r>
          </a:p>
          <a:p>
            <a:pPr>
              <a:spcAft>
                <a:spcPts val="2400"/>
              </a:spcAft>
              <a:defRPr sz="2000" b="1">
                <a:solidFill>
                  <a:srgbClr val="A8BE78"/>
                </a:solidFill>
              </a:defRPr>
            </a:pPr>
            <a:r>
              <a:t>Questions &amp; Answers  ·  Viva Voce Defense</a:t>
            </a:r>
          </a:p>
          <a:p>
            <a:pPr>
              <a:spcAft>
                <a:spcPts val="800"/>
              </a:spcAft>
              <a:defRPr sz="1300" b="1">
                <a:solidFill>
                  <a:srgbClr val="FFFFFF"/>
                </a:solidFill>
              </a:defRPr>
            </a:pPr>
            <a:r>
              <a:t>Prepared for Examiner Discussion on:</a:t>
            </a:r>
          </a:p>
          <a:p>
            <a:pPr>
              <a:spcAft>
                <a:spcPts val="400"/>
              </a:spcAft>
              <a:defRPr sz="1100">
                <a:solidFill>
                  <a:srgbClr val="DCEBE1"/>
                </a:solidFill>
              </a:defRPr>
            </a:pPr>
            <a:r>
              <a:t>• 1. Methodology: Why WAPE (10.69%) is mathematically appropriate over standard MAPE for retail perishables.</a:t>
            </a:r>
          </a:p>
          <a:p>
            <a:pPr>
              <a:spcAft>
                <a:spcPts val="400"/>
              </a:spcAft>
              <a:defRPr sz="1100">
                <a:solidFill>
                  <a:srgbClr val="DCEBE1"/>
                </a:solidFill>
              </a:defRPr>
            </a:pPr>
            <a:r>
              <a:t>• 2. Zero Leakage: Why .shift(1) is mandatory on rolling statistics and how chronological splitting prevents lookahead bias.</a:t>
            </a:r>
          </a:p>
          <a:p>
            <a:pPr>
              <a:spcAft>
                <a:spcPts val="400"/>
              </a:spcAft>
              <a:defRPr sz="1100">
                <a:solidFill>
                  <a:srgbClr val="DCEBE1"/>
                </a:solidFill>
              </a:defRPr>
            </a:pPr>
            <a:r>
              <a:t>• 3. Model Tournament: Why HistGradientBoosting outperforms Ridge Regression and Random Forest Regressor.</a:t>
            </a:r>
          </a:p>
          <a:p>
            <a:pPr>
              <a:spcAft>
                <a:spcPts val="400"/>
              </a:spcAft>
              <a:defRPr sz="1100">
                <a:solidFill>
                  <a:srgbClr val="DCEBE1"/>
                </a:solidFill>
              </a:defRPr>
            </a:pPr>
            <a:r>
              <a:t>• 4. Statistical Rigor: ANOVA variance decomposition explaining pooled R² (0.9805) vs volume-weighted R² (0.7916).</a:t>
            </a:r>
          </a:p>
          <a:p>
            <a:pPr>
              <a:spcAft>
                <a:spcPts val="400"/>
              </a:spcAft>
              <a:defRPr sz="1100">
                <a:solidFill>
                  <a:srgbClr val="DCEBE1"/>
                </a:solidFill>
              </a:defRPr>
            </a:pPr>
            <a:r>
              <a:t>• 5. Commercial Safeguards: Mathematical proof of the minimum-margin floor price downgrade ladder.</a:t>
            </a:r>
          </a:p>
          <a:p>
            <a:pPr>
              <a:spcAft>
                <a:spcPts val="400"/>
              </a:spcAft>
              <a:defRPr sz="1100">
                <a:solidFill>
                  <a:srgbClr val="DCEBE1"/>
                </a:solidFill>
              </a:defRPr>
            </a:pPr>
            <a:r>
              <a:t>• 6. Codebase Reference: Comprehensive viva defense guide covering 25 examiner questions in docs/viva_guide.md.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